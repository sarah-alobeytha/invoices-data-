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9" r:id="rId4"/>
    <p:sldId id="260" r:id="rId5"/>
    <p:sldId id="265" r:id="rId6"/>
    <p:sldId id="261" r:id="rId7"/>
    <p:sldId id="263" r:id="rId8"/>
    <p:sldId id="278" r:id="rId9"/>
    <p:sldId id="264" r:id="rId10"/>
    <p:sldId id="266" r:id="rId11"/>
    <p:sldId id="267" r:id="rId12"/>
    <p:sldId id="269" r:id="rId13"/>
    <p:sldId id="268" r:id="rId14"/>
    <p:sldId id="276" r:id="rId15"/>
    <p:sldId id="277" r:id="rId16"/>
    <p:sldId id="270" r:id="rId17"/>
    <p:sldId id="271" r:id="rId18"/>
    <p:sldId id="272" r:id="rId19"/>
    <p:sldId id="273" r:id="rId20"/>
    <p:sldId id="274" r:id="rId21"/>
    <p:sldId id="275" r:id="rId22"/>
    <p:sldId id="27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1F3AD2-B45E-4132-9CFE-A644367D56F0}" v="160" dt="2026-01-18T13:50:18.7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674" autoAdjust="0"/>
  </p:normalViewPr>
  <p:slideViewPr>
    <p:cSldViewPr snapToGrid="0">
      <p:cViewPr varScale="1">
        <p:scale>
          <a:sx n="72" d="100"/>
          <a:sy n="72" d="100"/>
        </p:scale>
        <p:origin x="43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ALOBEYTHA" userId="c6f9672c-575c-45ca-b37c-8bbcef58a7e9" providerId="ADAL" clId="{104CF782-BC6F-47AA-B990-7D4640747736}"/>
    <pc:docChg chg="undo custSel addSld delSld modSld">
      <pc:chgData name="SARAH ALOBEYTHA" userId="c6f9672c-575c-45ca-b37c-8bbcef58a7e9" providerId="ADAL" clId="{104CF782-BC6F-47AA-B990-7D4640747736}" dt="2026-01-18T13:51:36.753" v="1437" actId="1076"/>
      <pc:docMkLst>
        <pc:docMk/>
      </pc:docMkLst>
      <pc:sldChg chg="modSp new mod">
        <pc:chgData name="SARAH ALOBEYTHA" userId="c6f9672c-575c-45ca-b37c-8bbcef58a7e9" providerId="ADAL" clId="{104CF782-BC6F-47AA-B990-7D4640747736}" dt="2026-01-17T15:54:03.305" v="86" actId="20577"/>
        <pc:sldMkLst>
          <pc:docMk/>
          <pc:sldMk cId="763438760" sldId="256"/>
        </pc:sldMkLst>
        <pc:spChg chg="mod">
          <ac:chgData name="SARAH ALOBEYTHA" userId="c6f9672c-575c-45ca-b37c-8bbcef58a7e9" providerId="ADAL" clId="{104CF782-BC6F-47AA-B990-7D4640747736}" dt="2026-01-17T15:54:03.305" v="86" actId="20577"/>
          <ac:spMkLst>
            <pc:docMk/>
            <pc:sldMk cId="763438760" sldId="256"/>
            <ac:spMk id="2" creationId="{3ED3F27D-775A-87AF-8358-A9CAD73F31BE}"/>
          </ac:spMkLst>
        </pc:spChg>
        <pc:spChg chg="mod">
          <ac:chgData name="SARAH ALOBEYTHA" userId="c6f9672c-575c-45ca-b37c-8bbcef58a7e9" providerId="ADAL" clId="{104CF782-BC6F-47AA-B990-7D4640747736}" dt="2026-01-17T15:52:16.794" v="83" actId="20577"/>
          <ac:spMkLst>
            <pc:docMk/>
            <pc:sldMk cId="763438760" sldId="256"/>
            <ac:spMk id="3" creationId="{9CC48B00-4F11-E077-86AF-BA3272302BDD}"/>
          </ac:spMkLst>
        </pc:spChg>
      </pc:sldChg>
      <pc:sldChg chg="modSp new mod">
        <pc:chgData name="SARAH ALOBEYTHA" userId="c6f9672c-575c-45ca-b37c-8bbcef58a7e9" providerId="ADAL" clId="{104CF782-BC6F-47AA-B990-7D4640747736}" dt="2026-01-18T13:50:43.337" v="1407" actId="27636"/>
        <pc:sldMkLst>
          <pc:docMk/>
          <pc:sldMk cId="2652324008" sldId="257"/>
        </pc:sldMkLst>
        <pc:spChg chg="mod">
          <ac:chgData name="SARAH ALOBEYTHA" userId="c6f9672c-575c-45ca-b37c-8bbcef58a7e9" providerId="ADAL" clId="{104CF782-BC6F-47AA-B990-7D4640747736}" dt="2026-01-18T13:50:39.570" v="1405" actId="1076"/>
          <ac:spMkLst>
            <pc:docMk/>
            <pc:sldMk cId="2652324008" sldId="257"/>
            <ac:spMk id="2" creationId="{38B9C62B-F264-F799-23C4-50F5746D62F5}"/>
          </ac:spMkLst>
        </pc:spChg>
        <pc:spChg chg="mod">
          <ac:chgData name="SARAH ALOBEYTHA" userId="c6f9672c-575c-45ca-b37c-8bbcef58a7e9" providerId="ADAL" clId="{104CF782-BC6F-47AA-B990-7D4640747736}" dt="2026-01-18T13:50:43.337" v="1407" actId="27636"/>
          <ac:spMkLst>
            <pc:docMk/>
            <pc:sldMk cId="2652324008" sldId="257"/>
            <ac:spMk id="3" creationId="{44592472-1DEB-97B2-085A-BCD05979FC30}"/>
          </ac:spMkLst>
        </pc:spChg>
      </pc:sldChg>
      <pc:sldChg chg="addSp delSp modSp new del mod">
        <pc:chgData name="SARAH ALOBEYTHA" userId="c6f9672c-575c-45ca-b37c-8bbcef58a7e9" providerId="ADAL" clId="{104CF782-BC6F-47AA-B990-7D4640747736}" dt="2026-01-18T05:35:02.972" v="135" actId="47"/>
        <pc:sldMkLst>
          <pc:docMk/>
          <pc:sldMk cId="2276449240" sldId="258"/>
        </pc:sldMkLst>
        <pc:spChg chg="mod">
          <ac:chgData name="SARAH ALOBEYTHA" userId="c6f9672c-575c-45ca-b37c-8bbcef58a7e9" providerId="ADAL" clId="{104CF782-BC6F-47AA-B990-7D4640747736}" dt="2026-01-18T05:32:31.190" v="96"/>
          <ac:spMkLst>
            <pc:docMk/>
            <pc:sldMk cId="2276449240" sldId="258"/>
            <ac:spMk id="2" creationId="{C3A9E0DE-5247-69F2-ECF9-D5D5CF430A5B}"/>
          </ac:spMkLst>
        </pc:spChg>
        <pc:spChg chg="del">
          <ac:chgData name="SARAH ALOBEYTHA" userId="c6f9672c-575c-45ca-b37c-8bbcef58a7e9" providerId="ADAL" clId="{104CF782-BC6F-47AA-B990-7D4640747736}" dt="2026-01-18T05:32:45.458" v="97"/>
          <ac:spMkLst>
            <pc:docMk/>
            <pc:sldMk cId="2276449240" sldId="258"/>
            <ac:spMk id="3" creationId="{6CA5F33C-2405-11A2-BAE1-CEDEC5CAD777}"/>
          </ac:spMkLst>
        </pc:spChg>
        <pc:spChg chg="add del mod">
          <ac:chgData name="SARAH ALOBEYTHA" userId="c6f9672c-575c-45ca-b37c-8bbcef58a7e9" providerId="ADAL" clId="{104CF782-BC6F-47AA-B990-7D4640747736}" dt="2026-01-18T05:33:01.454" v="100"/>
          <ac:spMkLst>
            <pc:docMk/>
            <pc:sldMk cId="2276449240" sldId="258"/>
            <ac:spMk id="4" creationId="{47D94F0F-880D-39D3-36FC-8C375A3D8BC6}"/>
          </ac:spMkLst>
        </pc:spChg>
        <pc:spChg chg="add mod">
          <ac:chgData name="SARAH ALOBEYTHA" userId="c6f9672c-575c-45ca-b37c-8bbcef58a7e9" providerId="ADAL" clId="{104CF782-BC6F-47AA-B990-7D4640747736}" dt="2026-01-18T05:34:01.707" v="120" actId="20577"/>
          <ac:spMkLst>
            <pc:docMk/>
            <pc:sldMk cId="2276449240" sldId="258"/>
            <ac:spMk id="5" creationId="{772764F3-CB2D-BD57-E17A-4C61E8645D12}"/>
          </ac:spMkLst>
        </pc:spChg>
        <pc:spChg chg="add del mod">
          <ac:chgData name="SARAH ALOBEYTHA" userId="c6f9672c-575c-45ca-b37c-8bbcef58a7e9" providerId="ADAL" clId="{104CF782-BC6F-47AA-B990-7D4640747736}" dt="2026-01-18T05:33:45.826" v="114" actId="478"/>
          <ac:spMkLst>
            <pc:docMk/>
            <pc:sldMk cId="2276449240" sldId="258"/>
            <ac:spMk id="6" creationId="{100B2349-7B11-6231-4213-BB2110804CB6}"/>
          </ac:spMkLst>
        </pc:spChg>
        <pc:spChg chg="add mod">
          <ac:chgData name="SARAH ALOBEYTHA" userId="c6f9672c-575c-45ca-b37c-8bbcef58a7e9" providerId="ADAL" clId="{104CF782-BC6F-47AA-B990-7D4640747736}" dt="2026-01-18T05:34:03.984" v="122" actId="20577"/>
          <ac:spMkLst>
            <pc:docMk/>
            <pc:sldMk cId="2276449240" sldId="258"/>
            <ac:spMk id="7" creationId="{9D61A18E-C7FF-EEF8-B888-75B34189664B}"/>
          </ac:spMkLst>
        </pc:spChg>
      </pc:sldChg>
      <pc:sldChg chg="addSp delSp modSp new mod">
        <pc:chgData name="SARAH ALOBEYTHA" userId="c6f9672c-575c-45ca-b37c-8bbcef58a7e9" providerId="ADAL" clId="{104CF782-BC6F-47AA-B990-7D4640747736}" dt="2026-01-18T05:35:18.937" v="141"/>
        <pc:sldMkLst>
          <pc:docMk/>
          <pc:sldMk cId="2421001365" sldId="259"/>
        </pc:sldMkLst>
        <pc:spChg chg="mod">
          <ac:chgData name="SARAH ALOBEYTHA" userId="c6f9672c-575c-45ca-b37c-8bbcef58a7e9" providerId="ADAL" clId="{104CF782-BC6F-47AA-B990-7D4640747736}" dt="2026-01-18T05:35:07.885" v="138" actId="113"/>
          <ac:spMkLst>
            <pc:docMk/>
            <pc:sldMk cId="2421001365" sldId="259"/>
            <ac:spMk id="2" creationId="{F8C45699-638C-80F3-DC34-69220636065D}"/>
          </ac:spMkLst>
        </pc:spChg>
        <pc:spChg chg="del">
          <ac:chgData name="SARAH ALOBEYTHA" userId="c6f9672c-575c-45ca-b37c-8bbcef58a7e9" providerId="ADAL" clId="{104CF782-BC6F-47AA-B990-7D4640747736}" dt="2026-01-18T05:34:09.572" v="124"/>
          <ac:spMkLst>
            <pc:docMk/>
            <pc:sldMk cId="2421001365" sldId="259"/>
            <ac:spMk id="3" creationId="{A818FA9B-D7BF-F877-8909-6AF530CF913D}"/>
          </ac:spMkLst>
        </pc:spChg>
        <pc:spChg chg="add del mod">
          <ac:chgData name="SARAH ALOBEYTHA" userId="c6f9672c-575c-45ca-b37c-8bbcef58a7e9" providerId="ADAL" clId="{104CF782-BC6F-47AA-B990-7D4640747736}" dt="2026-01-18T05:34:11.131" v="125" actId="478"/>
          <ac:spMkLst>
            <pc:docMk/>
            <pc:sldMk cId="2421001365" sldId="259"/>
            <ac:spMk id="4" creationId="{B890A8C5-18C8-9A5B-0DA9-A9BA1D03D451}"/>
          </ac:spMkLst>
        </pc:spChg>
        <pc:spChg chg="add del mod">
          <ac:chgData name="SARAH ALOBEYTHA" userId="c6f9672c-575c-45ca-b37c-8bbcef58a7e9" providerId="ADAL" clId="{104CF782-BC6F-47AA-B990-7D4640747736}" dt="2026-01-18T05:35:18.937" v="141"/>
          <ac:spMkLst>
            <pc:docMk/>
            <pc:sldMk cId="2421001365" sldId="259"/>
            <ac:spMk id="5" creationId="{800EBA78-A4E0-FD03-06CD-E16F6F82F113}"/>
          </ac:spMkLst>
        </pc:spChg>
        <pc:spChg chg="add mod">
          <ac:chgData name="SARAH ALOBEYTHA" userId="c6f9672c-575c-45ca-b37c-8bbcef58a7e9" providerId="ADAL" clId="{104CF782-BC6F-47AA-B990-7D4640747736}" dt="2026-01-18T05:34:26.049" v="127"/>
          <ac:spMkLst>
            <pc:docMk/>
            <pc:sldMk cId="2421001365" sldId="259"/>
            <ac:spMk id="6" creationId="{598E0DF4-D3FF-31E4-D232-5FBE83C4D7BE}"/>
          </ac:spMkLst>
        </pc:spChg>
      </pc:sldChg>
      <pc:sldChg chg="addSp delSp modSp new mod">
        <pc:chgData name="SARAH ALOBEYTHA" userId="c6f9672c-575c-45ca-b37c-8bbcef58a7e9" providerId="ADAL" clId="{104CF782-BC6F-47AA-B990-7D4640747736}" dt="2026-01-18T06:15:19.478" v="382" actId="113"/>
        <pc:sldMkLst>
          <pc:docMk/>
          <pc:sldMk cId="351286778" sldId="260"/>
        </pc:sldMkLst>
        <pc:spChg chg="mod">
          <ac:chgData name="SARAH ALOBEYTHA" userId="c6f9672c-575c-45ca-b37c-8bbcef58a7e9" providerId="ADAL" clId="{104CF782-BC6F-47AA-B990-7D4640747736}" dt="2026-01-18T05:35:50.420" v="143"/>
          <ac:spMkLst>
            <pc:docMk/>
            <pc:sldMk cId="351286778" sldId="260"/>
            <ac:spMk id="2" creationId="{6AA7CDEF-069E-A58D-4FCA-A3B7214DD89B}"/>
          </ac:spMkLst>
        </pc:spChg>
        <pc:spChg chg="add del mod">
          <ac:chgData name="SARAH ALOBEYTHA" userId="c6f9672c-575c-45ca-b37c-8bbcef58a7e9" providerId="ADAL" clId="{104CF782-BC6F-47AA-B990-7D4640747736}" dt="2026-01-18T06:15:19.478" v="382" actId="113"/>
          <ac:spMkLst>
            <pc:docMk/>
            <pc:sldMk cId="351286778" sldId="260"/>
            <ac:spMk id="3" creationId="{FE896099-41F3-27DB-1E50-06CC057056C9}"/>
          </ac:spMkLst>
        </pc:spChg>
        <pc:spChg chg="add del mod">
          <ac:chgData name="SARAH ALOBEYTHA" userId="c6f9672c-575c-45ca-b37c-8bbcef58a7e9" providerId="ADAL" clId="{104CF782-BC6F-47AA-B990-7D4640747736}" dt="2026-01-18T06:13:43.461" v="369" actId="478"/>
          <ac:spMkLst>
            <pc:docMk/>
            <pc:sldMk cId="351286778" sldId="260"/>
            <ac:spMk id="4" creationId="{6D21F953-96ED-6B7A-F7C3-CDB22926CD1E}"/>
          </ac:spMkLst>
        </pc:spChg>
        <pc:spChg chg="add mod">
          <ac:chgData name="SARAH ALOBEYTHA" userId="c6f9672c-575c-45ca-b37c-8bbcef58a7e9" providerId="ADAL" clId="{104CF782-BC6F-47AA-B990-7D4640747736}" dt="2026-01-18T06:13:36.615" v="366" actId="478"/>
          <ac:spMkLst>
            <pc:docMk/>
            <pc:sldMk cId="351286778" sldId="260"/>
            <ac:spMk id="5" creationId="{06C4176F-E3B5-BC6D-3AB3-373EAB1A8571}"/>
          </ac:spMkLst>
        </pc:spChg>
        <pc:spChg chg="add del">
          <ac:chgData name="SARAH ALOBEYTHA" userId="c6f9672c-575c-45ca-b37c-8bbcef58a7e9" providerId="ADAL" clId="{104CF782-BC6F-47AA-B990-7D4640747736}" dt="2026-01-18T06:14:33.090" v="377" actId="478"/>
          <ac:spMkLst>
            <pc:docMk/>
            <pc:sldMk cId="351286778" sldId="260"/>
            <ac:spMk id="6" creationId="{7766D37A-925F-4903-D21A-4CBDE8902646}"/>
          </ac:spMkLst>
        </pc:spChg>
        <pc:spChg chg="add mod">
          <ac:chgData name="SARAH ALOBEYTHA" userId="c6f9672c-575c-45ca-b37c-8bbcef58a7e9" providerId="ADAL" clId="{104CF782-BC6F-47AA-B990-7D4640747736}" dt="2026-01-18T06:14:29.708" v="376" actId="478"/>
          <ac:spMkLst>
            <pc:docMk/>
            <pc:sldMk cId="351286778" sldId="260"/>
            <ac:spMk id="7" creationId="{42FE91E6-5871-1B83-E84A-849D25FDA32A}"/>
          </ac:spMkLst>
        </pc:spChg>
      </pc:sldChg>
      <pc:sldChg chg="delSp modSp new mod">
        <pc:chgData name="SARAH ALOBEYTHA" userId="c6f9672c-575c-45ca-b37c-8bbcef58a7e9" providerId="ADAL" clId="{104CF782-BC6F-47AA-B990-7D4640747736}" dt="2026-01-18T06:29:00.499" v="479" actId="27636"/>
        <pc:sldMkLst>
          <pc:docMk/>
          <pc:sldMk cId="4085235799" sldId="261"/>
        </pc:sldMkLst>
        <pc:spChg chg="del">
          <ac:chgData name="SARAH ALOBEYTHA" userId="c6f9672c-575c-45ca-b37c-8bbcef58a7e9" providerId="ADAL" clId="{104CF782-BC6F-47AA-B990-7D4640747736}" dt="2026-01-18T05:44:57.863" v="200" actId="478"/>
          <ac:spMkLst>
            <pc:docMk/>
            <pc:sldMk cId="4085235799" sldId="261"/>
            <ac:spMk id="2" creationId="{A5190821-69D0-C45B-982E-C571F172241F}"/>
          </ac:spMkLst>
        </pc:spChg>
        <pc:spChg chg="mod">
          <ac:chgData name="SARAH ALOBEYTHA" userId="c6f9672c-575c-45ca-b37c-8bbcef58a7e9" providerId="ADAL" clId="{104CF782-BC6F-47AA-B990-7D4640747736}" dt="2026-01-18T06:29:00.499" v="479" actId="27636"/>
          <ac:spMkLst>
            <pc:docMk/>
            <pc:sldMk cId="4085235799" sldId="261"/>
            <ac:spMk id="3" creationId="{2EDA55F4-8ED5-41EF-7923-C0A404405D12}"/>
          </ac:spMkLst>
        </pc:spChg>
      </pc:sldChg>
      <pc:sldChg chg="delSp modSp new del mod">
        <pc:chgData name="SARAH ALOBEYTHA" userId="c6f9672c-575c-45ca-b37c-8bbcef58a7e9" providerId="ADAL" clId="{104CF782-BC6F-47AA-B990-7D4640747736}" dt="2026-01-18T06:30:13.181" v="482" actId="47"/>
        <pc:sldMkLst>
          <pc:docMk/>
          <pc:sldMk cId="2931580778" sldId="262"/>
        </pc:sldMkLst>
        <pc:spChg chg="del">
          <ac:chgData name="SARAH ALOBEYTHA" userId="c6f9672c-575c-45ca-b37c-8bbcef58a7e9" providerId="ADAL" clId="{104CF782-BC6F-47AA-B990-7D4640747736}" dt="2026-01-18T06:02:14.700" v="352" actId="478"/>
          <ac:spMkLst>
            <pc:docMk/>
            <pc:sldMk cId="2931580778" sldId="262"/>
            <ac:spMk id="2" creationId="{5DAC4BF7-0BC8-9FED-7F01-1A8CF587D8D6}"/>
          </ac:spMkLst>
        </pc:spChg>
        <pc:spChg chg="mod">
          <ac:chgData name="SARAH ALOBEYTHA" userId="c6f9672c-575c-45ca-b37c-8bbcef58a7e9" providerId="ADAL" clId="{104CF782-BC6F-47AA-B990-7D4640747736}" dt="2026-01-18T06:30:05.787" v="480" actId="20577"/>
          <ac:spMkLst>
            <pc:docMk/>
            <pc:sldMk cId="2931580778" sldId="262"/>
            <ac:spMk id="3" creationId="{2990F3EF-53AD-8C92-8E11-B5D0D3204FB6}"/>
          </ac:spMkLst>
        </pc:spChg>
      </pc:sldChg>
      <pc:sldChg chg="addSp delSp modSp new mod">
        <pc:chgData name="SARAH ALOBEYTHA" userId="c6f9672c-575c-45ca-b37c-8bbcef58a7e9" providerId="ADAL" clId="{104CF782-BC6F-47AA-B990-7D4640747736}" dt="2026-01-18T07:01:56.575" v="685" actId="27636"/>
        <pc:sldMkLst>
          <pc:docMk/>
          <pc:sldMk cId="1034969185" sldId="263"/>
        </pc:sldMkLst>
        <pc:spChg chg="mod">
          <ac:chgData name="SARAH ALOBEYTHA" userId="c6f9672c-575c-45ca-b37c-8bbcef58a7e9" providerId="ADAL" clId="{104CF782-BC6F-47AA-B990-7D4640747736}" dt="2026-01-18T06:08:11.556" v="357"/>
          <ac:spMkLst>
            <pc:docMk/>
            <pc:sldMk cId="1034969185" sldId="263"/>
            <ac:spMk id="2" creationId="{259A2882-8D30-D9BA-0181-BD4E688DC9D6}"/>
          </ac:spMkLst>
        </pc:spChg>
        <pc:spChg chg="mod">
          <ac:chgData name="SARAH ALOBEYTHA" userId="c6f9672c-575c-45ca-b37c-8bbcef58a7e9" providerId="ADAL" clId="{104CF782-BC6F-47AA-B990-7D4640747736}" dt="2026-01-18T07:01:56.575" v="685" actId="27636"/>
          <ac:spMkLst>
            <pc:docMk/>
            <pc:sldMk cId="1034969185" sldId="263"/>
            <ac:spMk id="3" creationId="{77E07A0C-13FD-2C93-FEF5-43D6E8AA47CA}"/>
          </ac:spMkLst>
        </pc:spChg>
        <pc:spChg chg="add del mod">
          <ac:chgData name="SARAH ALOBEYTHA" userId="c6f9672c-575c-45ca-b37c-8bbcef58a7e9" providerId="ADAL" clId="{104CF782-BC6F-47AA-B990-7D4640747736}" dt="2026-01-18T06:43:09.043" v="512"/>
          <ac:spMkLst>
            <pc:docMk/>
            <pc:sldMk cId="1034969185" sldId="263"/>
            <ac:spMk id="4" creationId="{6C04E96D-757F-14F0-CA57-994236319ECC}"/>
          </ac:spMkLst>
        </pc:spChg>
      </pc:sldChg>
      <pc:sldChg chg="addSp delSp modSp new mod">
        <pc:chgData name="SARAH ALOBEYTHA" userId="c6f9672c-575c-45ca-b37c-8bbcef58a7e9" providerId="ADAL" clId="{104CF782-BC6F-47AA-B990-7D4640747736}" dt="2026-01-18T07:14:54.056" v="748" actId="1076"/>
        <pc:sldMkLst>
          <pc:docMk/>
          <pc:sldMk cId="350207023" sldId="264"/>
        </pc:sldMkLst>
        <pc:spChg chg="mod">
          <ac:chgData name="SARAH ALOBEYTHA" userId="c6f9672c-575c-45ca-b37c-8bbcef58a7e9" providerId="ADAL" clId="{104CF782-BC6F-47AA-B990-7D4640747736}" dt="2026-01-18T07:10:30.635" v="686"/>
          <ac:spMkLst>
            <pc:docMk/>
            <pc:sldMk cId="350207023" sldId="264"/>
            <ac:spMk id="2" creationId="{9EA1C09E-4AF7-AE50-8CD7-101EEA775183}"/>
          </ac:spMkLst>
        </pc:spChg>
        <pc:spChg chg="del">
          <ac:chgData name="SARAH ALOBEYTHA" userId="c6f9672c-575c-45ca-b37c-8bbcef58a7e9" providerId="ADAL" clId="{104CF782-BC6F-47AA-B990-7D4640747736}" dt="2026-01-18T06:10:07.157" v="362"/>
          <ac:spMkLst>
            <pc:docMk/>
            <pc:sldMk cId="350207023" sldId="264"/>
            <ac:spMk id="3" creationId="{6DE3D04E-D963-27A0-2400-41D6BD58336E}"/>
          </ac:spMkLst>
        </pc:spChg>
        <pc:spChg chg="add mod">
          <ac:chgData name="SARAH ALOBEYTHA" userId="c6f9672c-575c-45ca-b37c-8bbcef58a7e9" providerId="ADAL" clId="{104CF782-BC6F-47AA-B990-7D4640747736}" dt="2026-01-18T07:14:54.056" v="748" actId="1076"/>
          <ac:spMkLst>
            <pc:docMk/>
            <pc:sldMk cId="350207023" sldId="264"/>
            <ac:spMk id="4" creationId="{8B4BCA0C-2138-AA5C-BD6A-74644065968B}"/>
          </ac:spMkLst>
        </pc:spChg>
      </pc:sldChg>
      <pc:sldChg chg="new del">
        <pc:chgData name="SARAH ALOBEYTHA" userId="c6f9672c-575c-45ca-b37c-8bbcef58a7e9" providerId="ADAL" clId="{104CF782-BC6F-47AA-B990-7D4640747736}" dt="2026-01-18T06:16:00.188" v="384" actId="47"/>
        <pc:sldMkLst>
          <pc:docMk/>
          <pc:sldMk cId="141786288" sldId="265"/>
        </pc:sldMkLst>
      </pc:sldChg>
      <pc:sldChg chg="delSp modSp new mod">
        <pc:chgData name="SARAH ALOBEYTHA" userId="c6f9672c-575c-45ca-b37c-8bbcef58a7e9" providerId="ADAL" clId="{104CF782-BC6F-47AA-B990-7D4640747736}" dt="2026-01-18T06:24:17.651" v="454" actId="14100"/>
        <pc:sldMkLst>
          <pc:docMk/>
          <pc:sldMk cId="476321854" sldId="265"/>
        </pc:sldMkLst>
        <pc:spChg chg="del">
          <ac:chgData name="SARAH ALOBEYTHA" userId="c6f9672c-575c-45ca-b37c-8bbcef58a7e9" providerId="ADAL" clId="{104CF782-BC6F-47AA-B990-7D4640747736}" dt="2026-01-18T06:17:00.808" v="433" actId="478"/>
          <ac:spMkLst>
            <pc:docMk/>
            <pc:sldMk cId="476321854" sldId="265"/>
            <ac:spMk id="2" creationId="{8B6D4F88-8AD0-CD01-2372-C21F2732667C}"/>
          </ac:spMkLst>
        </pc:spChg>
        <pc:spChg chg="mod">
          <ac:chgData name="SARAH ALOBEYTHA" userId="c6f9672c-575c-45ca-b37c-8bbcef58a7e9" providerId="ADAL" clId="{104CF782-BC6F-47AA-B990-7D4640747736}" dt="2026-01-18T06:24:17.651" v="454" actId="14100"/>
          <ac:spMkLst>
            <pc:docMk/>
            <pc:sldMk cId="476321854" sldId="265"/>
            <ac:spMk id="3" creationId="{74D64EAF-2A72-5578-7FBE-4401218AED98}"/>
          </ac:spMkLst>
        </pc:spChg>
      </pc:sldChg>
      <pc:sldChg chg="modSp new mod">
        <pc:chgData name="SARAH ALOBEYTHA" userId="c6f9672c-575c-45ca-b37c-8bbcef58a7e9" providerId="ADAL" clId="{104CF782-BC6F-47AA-B990-7D4640747736}" dt="2026-01-18T08:55:44.424" v="1203" actId="27636"/>
        <pc:sldMkLst>
          <pc:docMk/>
          <pc:sldMk cId="2864060312" sldId="266"/>
        </pc:sldMkLst>
        <pc:spChg chg="mod">
          <ac:chgData name="SARAH ALOBEYTHA" userId="c6f9672c-575c-45ca-b37c-8bbcef58a7e9" providerId="ADAL" clId="{104CF782-BC6F-47AA-B990-7D4640747736}" dt="2026-01-18T07:15:46.317" v="750"/>
          <ac:spMkLst>
            <pc:docMk/>
            <pc:sldMk cId="2864060312" sldId="266"/>
            <ac:spMk id="2" creationId="{C51DA0ED-6564-BF19-3E61-13253296FAC3}"/>
          </ac:spMkLst>
        </pc:spChg>
        <pc:spChg chg="mod">
          <ac:chgData name="SARAH ALOBEYTHA" userId="c6f9672c-575c-45ca-b37c-8bbcef58a7e9" providerId="ADAL" clId="{104CF782-BC6F-47AA-B990-7D4640747736}" dt="2026-01-18T08:55:44.424" v="1203" actId="27636"/>
          <ac:spMkLst>
            <pc:docMk/>
            <pc:sldMk cId="2864060312" sldId="266"/>
            <ac:spMk id="3" creationId="{09A448EE-52ED-0142-9E94-11809FA4D2B8}"/>
          </ac:spMkLst>
        </pc:spChg>
      </pc:sldChg>
      <pc:sldChg chg="new del">
        <pc:chgData name="SARAH ALOBEYTHA" userId="c6f9672c-575c-45ca-b37c-8bbcef58a7e9" providerId="ADAL" clId="{104CF782-BC6F-47AA-B990-7D4640747736}" dt="2026-01-18T06:33:04.093" v="488" actId="47"/>
        <pc:sldMkLst>
          <pc:docMk/>
          <pc:sldMk cId="3430764040" sldId="266"/>
        </pc:sldMkLst>
      </pc:sldChg>
      <pc:sldChg chg="addSp delSp modSp new mod">
        <pc:chgData name="SARAH ALOBEYTHA" userId="c6f9672c-575c-45ca-b37c-8bbcef58a7e9" providerId="ADAL" clId="{104CF782-BC6F-47AA-B990-7D4640747736}" dt="2026-01-18T08:50:40.640" v="1185"/>
        <pc:sldMkLst>
          <pc:docMk/>
          <pc:sldMk cId="2760638442" sldId="267"/>
        </pc:sldMkLst>
        <pc:spChg chg="mod">
          <ac:chgData name="SARAH ALOBEYTHA" userId="c6f9672c-575c-45ca-b37c-8bbcef58a7e9" providerId="ADAL" clId="{104CF782-BC6F-47AA-B990-7D4640747736}" dt="2026-01-18T08:44:55.220" v="1145"/>
          <ac:spMkLst>
            <pc:docMk/>
            <pc:sldMk cId="2760638442" sldId="267"/>
            <ac:spMk id="2" creationId="{C1D98363-9BC8-3A1E-B9FD-0D4FD68191E8}"/>
          </ac:spMkLst>
        </pc:spChg>
        <pc:spChg chg="del">
          <ac:chgData name="SARAH ALOBEYTHA" userId="c6f9672c-575c-45ca-b37c-8bbcef58a7e9" providerId="ADAL" clId="{104CF782-BC6F-47AA-B990-7D4640747736}" dt="2026-01-18T08:45:10.288" v="1146"/>
          <ac:spMkLst>
            <pc:docMk/>
            <pc:sldMk cId="2760638442" sldId="267"/>
            <ac:spMk id="3" creationId="{7C86FD2F-E6D0-0CE6-D8D4-2DFF76EEF169}"/>
          </ac:spMkLst>
        </pc:spChg>
        <pc:graphicFrameChg chg="add mod modGraphic">
          <ac:chgData name="SARAH ALOBEYTHA" userId="c6f9672c-575c-45ca-b37c-8bbcef58a7e9" providerId="ADAL" clId="{104CF782-BC6F-47AA-B990-7D4640747736}" dt="2026-01-18T08:50:40.640" v="1185"/>
          <ac:graphicFrameMkLst>
            <pc:docMk/>
            <pc:sldMk cId="2760638442" sldId="267"/>
            <ac:graphicFrameMk id="4" creationId="{42E2643A-02D0-DB59-9A11-01C0836834DC}"/>
          </ac:graphicFrameMkLst>
        </pc:graphicFrameChg>
      </pc:sldChg>
      <pc:sldChg chg="addSp delSp modSp new mod setBg">
        <pc:chgData name="SARAH ALOBEYTHA" userId="c6f9672c-575c-45ca-b37c-8bbcef58a7e9" providerId="ADAL" clId="{104CF782-BC6F-47AA-B990-7D4640747736}" dt="2026-01-18T09:16:34.301" v="1261" actId="1076"/>
        <pc:sldMkLst>
          <pc:docMk/>
          <pc:sldMk cId="2488731699" sldId="268"/>
        </pc:sldMkLst>
        <pc:spChg chg="mod">
          <ac:chgData name="SARAH ALOBEYTHA" userId="c6f9672c-575c-45ca-b37c-8bbcef58a7e9" providerId="ADAL" clId="{104CF782-BC6F-47AA-B990-7D4640747736}" dt="2026-01-18T09:16:34.301" v="1261" actId="1076"/>
          <ac:spMkLst>
            <pc:docMk/>
            <pc:sldMk cId="2488731699" sldId="268"/>
            <ac:spMk id="2" creationId="{9FB16438-A9B3-9E92-0CEB-3E9FCBB39753}"/>
          </ac:spMkLst>
        </pc:spChg>
        <pc:spChg chg="del">
          <ac:chgData name="SARAH ALOBEYTHA" userId="c6f9672c-575c-45ca-b37c-8bbcef58a7e9" providerId="ADAL" clId="{104CF782-BC6F-47AA-B990-7D4640747736}" dt="2026-01-18T08:51:47.694" v="1187"/>
          <ac:spMkLst>
            <pc:docMk/>
            <pc:sldMk cId="2488731699" sldId="268"/>
            <ac:spMk id="3" creationId="{54161F34-BA5A-7182-0BAD-B713C72BD086}"/>
          </ac:spMkLst>
        </pc:spChg>
        <pc:graphicFrameChg chg="add mod modGraphic">
          <ac:chgData name="SARAH ALOBEYTHA" userId="c6f9672c-575c-45ca-b37c-8bbcef58a7e9" providerId="ADAL" clId="{104CF782-BC6F-47AA-B990-7D4640747736}" dt="2026-01-18T09:16:32.079" v="1260" actId="1076"/>
          <ac:graphicFrameMkLst>
            <pc:docMk/>
            <pc:sldMk cId="2488731699" sldId="268"/>
            <ac:graphicFrameMk id="4" creationId="{689C59BB-7316-5477-54E3-FEFA73DBDB14}"/>
          </ac:graphicFrameMkLst>
        </pc:graphicFrameChg>
      </pc:sldChg>
      <pc:sldChg chg="modSp new mod">
        <pc:chgData name="SARAH ALOBEYTHA" userId="c6f9672c-575c-45ca-b37c-8bbcef58a7e9" providerId="ADAL" clId="{104CF782-BC6F-47AA-B990-7D4640747736}" dt="2026-01-18T08:54:37.281" v="1200" actId="27636"/>
        <pc:sldMkLst>
          <pc:docMk/>
          <pc:sldMk cId="2083661365" sldId="269"/>
        </pc:sldMkLst>
        <pc:spChg chg="mod">
          <ac:chgData name="SARAH ALOBEYTHA" userId="c6f9672c-575c-45ca-b37c-8bbcef58a7e9" providerId="ADAL" clId="{104CF782-BC6F-47AA-B990-7D4640747736}" dt="2026-01-18T08:52:40.159" v="1191"/>
          <ac:spMkLst>
            <pc:docMk/>
            <pc:sldMk cId="2083661365" sldId="269"/>
            <ac:spMk id="2" creationId="{B896AF01-2716-5A8B-2514-E4947AB6984A}"/>
          </ac:spMkLst>
        </pc:spChg>
        <pc:spChg chg="mod">
          <ac:chgData name="SARAH ALOBEYTHA" userId="c6f9672c-575c-45ca-b37c-8bbcef58a7e9" providerId="ADAL" clId="{104CF782-BC6F-47AA-B990-7D4640747736}" dt="2026-01-18T08:54:37.281" v="1200" actId="27636"/>
          <ac:spMkLst>
            <pc:docMk/>
            <pc:sldMk cId="2083661365" sldId="269"/>
            <ac:spMk id="3" creationId="{6B9A07ED-C220-1A0F-0756-F69BCE9F75D4}"/>
          </ac:spMkLst>
        </pc:spChg>
      </pc:sldChg>
      <pc:sldChg chg="modSp new del mod">
        <pc:chgData name="SARAH ALOBEYTHA" userId="c6f9672c-575c-45ca-b37c-8bbcef58a7e9" providerId="ADAL" clId="{104CF782-BC6F-47AA-B990-7D4640747736}" dt="2026-01-18T09:16:45.680" v="1262" actId="47"/>
        <pc:sldMkLst>
          <pc:docMk/>
          <pc:sldMk cId="1699235890" sldId="270"/>
        </pc:sldMkLst>
        <pc:spChg chg="mod">
          <ac:chgData name="SARAH ALOBEYTHA" userId="c6f9672c-575c-45ca-b37c-8bbcef58a7e9" providerId="ADAL" clId="{104CF782-BC6F-47AA-B990-7D4640747736}" dt="2026-01-18T09:04:01.167" v="1229" actId="113"/>
          <ac:spMkLst>
            <pc:docMk/>
            <pc:sldMk cId="1699235890" sldId="270"/>
            <ac:spMk id="3" creationId="{DCC89CF0-E9F0-A466-11F9-D0F83019B983}"/>
          </ac:spMkLst>
        </pc:spChg>
      </pc:sldChg>
      <pc:sldChg chg="modSp new mod">
        <pc:chgData name="SARAH ALOBEYTHA" userId="c6f9672c-575c-45ca-b37c-8bbcef58a7e9" providerId="ADAL" clId="{104CF782-BC6F-47AA-B990-7D4640747736}" dt="2026-01-18T09:47:05.243" v="1303" actId="113"/>
        <pc:sldMkLst>
          <pc:docMk/>
          <pc:sldMk cId="2737355324" sldId="270"/>
        </pc:sldMkLst>
        <pc:spChg chg="mod">
          <ac:chgData name="SARAH ALOBEYTHA" userId="c6f9672c-575c-45ca-b37c-8bbcef58a7e9" providerId="ADAL" clId="{104CF782-BC6F-47AA-B990-7D4640747736}" dt="2026-01-18T09:22:39.895" v="1264"/>
          <ac:spMkLst>
            <pc:docMk/>
            <pc:sldMk cId="2737355324" sldId="270"/>
            <ac:spMk id="2" creationId="{7D513912-60C8-0CD7-21F9-4BB4C5212035}"/>
          </ac:spMkLst>
        </pc:spChg>
        <pc:spChg chg="mod">
          <ac:chgData name="SARAH ALOBEYTHA" userId="c6f9672c-575c-45ca-b37c-8bbcef58a7e9" providerId="ADAL" clId="{104CF782-BC6F-47AA-B990-7D4640747736}" dt="2026-01-18T09:47:05.243" v="1303" actId="113"/>
          <ac:spMkLst>
            <pc:docMk/>
            <pc:sldMk cId="2737355324" sldId="270"/>
            <ac:spMk id="3" creationId="{2B67E0C3-4E40-A91B-D619-B346679BE42A}"/>
          </ac:spMkLst>
        </pc:spChg>
      </pc:sldChg>
      <pc:sldChg chg="modSp new mod">
        <pc:chgData name="SARAH ALOBEYTHA" userId="c6f9672c-575c-45ca-b37c-8bbcef58a7e9" providerId="ADAL" clId="{104CF782-BC6F-47AA-B990-7D4640747736}" dt="2026-01-18T12:50:57.839" v="1324" actId="27636"/>
        <pc:sldMkLst>
          <pc:docMk/>
          <pc:sldMk cId="2614571805" sldId="271"/>
        </pc:sldMkLst>
        <pc:spChg chg="mod">
          <ac:chgData name="SARAH ALOBEYTHA" userId="c6f9672c-575c-45ca-b37c-8bbcef58a7e9" providerId="ADAL" clId="{104CF782-BC6F-47AA-B990-7D4640747736}" dt="2026-01-18T09:28:56.409" v="1269"/>
          <ac:spMkLst>
            <pc:docMk/>
            <pc:sldMk cId="2614571805" sldId="271"/>
            <ac:spMk id="2" creationId="{691E6A0B-45DE-8766-9A06-FC937C1DEB65}"/>
          </ac:spMkLst>
        </pc:spChg>
        <pc:spChg chg="mod">
          <ac:chgData name="SARAH ALOBEYTHA" userId="c6f9672c-575c-45ca-b37c-8bbcef58a7e9" providerId="ADAL" clId="{104CF782-BC6F-47AA-B990-7D4640747736}" dt="2026-01-18T12:50:57.839" v="1324" actId="27636"/>
          <ac:spMkLst>
            <pc:docMk/>
            <pc:sldMk cId="2614571805" sldId="271"/>
            <ac:spMk id="3" creationId="{1BF18DA2-1861-AAED-94D6-694651B35164}"/>
          </ac:spMkLst>
        </pc:spChg>
      </pc:sldChg>
      <pc:sldChg chg="modSp new mod">
        <pc:chgData name="SARAH ALOBEYTHA" userId="c6f9672c-575c-45ca-b37c-8bbcef58a7e9" providerId="ADAL" clId="{104CF782-BC6F-47AA-B990-7D4640747736}" dt="2026-01-18T12:53:51.525" v="1331"/>
        <pc:sldMkLst>
          <pc:docMk/>
          <pc:sldMk cId="2762826446" sldId="272"/>
        </pc:sldMkLst>
        <pc:spChg chg="mod">
          <ac:chgData name="SARAH ALOBEYTHA" userId="c6f9672c-575c-45ca-b37c-8bbcef58a7e9" providerId="ADAL" clId="{104CF782-BC6F-47AA-B990-7D4640747736}" dt="2026-01-18T09:30:26.286" v="1279"/>
          <ac:spMkLst>
            <pc:docMk/>
            <pc:sldMk cId="2762826446" sldId="272"/>
            <ac:spMk id="2" creationId="{58863924-8617-BE03-AD48-D1B3351E65B1}"/>
          </ac:spMkLst>
        </pc:spChg>
        <pc:spChg chg="mod">
          <ac:chgData name="SARAH ALOBEYTHA" userId="c6f9672c-575c-45ca-b37c-8bbcef58a7e9" providerId="ADAL" clId="{104CF782-BC6F-47AA-B990-7D4640747736}" dt="2026-01-18T12:53:51.525" v="1331"/>
          <ac:spMkLst>
            <pc:docMk/>
            <pc:sldMk cId="2762826446" sldId="272"/>
            <ac:spMk id="3" creationId="{4C9A204B-6C56-D729-B54D-53131F827AD9}"/>
          </ac:spMkLst>
        </pc:spChg>
      </pc:sldChg>
      <pc:sldChg chg="addSp delSp modSp new mod">
        <pc:chgData name="SARAH ALOBEYTHA" userId="c6f9672c-575c-45ca-b37c-8bbcef58a7e9" providerId="ADAL" clId="{104CF782-BC6F-47AA-B990-7D4640747736}" dt="2026-01-18T13:35:00.588" v="1390" actId="27636"/>
        <pc:sldMkLst>
          <pc:docMk/>
          <pc:sldMk cId="2191002430" sldId="273"/>
        </pc:sldMkLst>
        <pc:spChg chg="del">
          <ac:chgData name="SARAH ALOBEYTHA" userId="c6f9672c-575c-45ca-b37c-8bbcef58a7e9" providerId="ADAL" clId="{104CF782-BC6F-47AA-B990-7D4640747736}" dt="2026-01-18T09:40:52.199" v="1295" actId="478"/>
          <ac:spMkLst>
            <pc:docMk/>
            <pc:sldMk cId="2191002430" sldId="273"/>
            <ac:spMk id="2" creationId="{9A4F708F-0486-C922-413F-14F9778C0660}"/>
          </ac:spMkLst>
        </pc:spChg>
        <pc:spChg chg="mod">
          <ac:chgData name="SARAH ALOBEYTHA" userId="c6f9672c-575c-45ca-b37c-8bbcef58a7e9" providerId="ADAL" clId="{104CF782-BC6F-47AA-B990-7D4640747736}" dt="2026-01-18T13:35:00.588" v="1390" actId="27636"/>
          <ac:spMkLst>
            <pc:docMk/>
            <pc:sldMk cId="2191002430" sldId="273"/>
            <ac:spMk id="3" creationId="{EF86878D-713E-CB4E-9885-AD722AEDF2B4}"/>
          </ac:spMkLst>
        </pc:spChg>
        <pc:graphicFrameChg chg="add mod">
          <ac:chgData name="SARAH ALOBEYTHA" userId="c6f9672c-575c-45ca-b37c-8bbcef58a7e9" providerId="ADAL" clId="{104CF782-BC6F-47AA-B990-7D4640747736}" dt="2026-01-18T09:41:31.456" v="1299"/>
          <ac:graphicFrameMkLst>
            <pc:docMk/>
            <pc:sldMk cId="2191002430" sldId="273"/>
            <ac:graphicFrameMk id="4" creationId="{21BD177C-BE63-42C9-6C5D-76391D4BDDCE}"/>
          </ac:graphicFrameMkLst>
        </pc:graphicFrameChg>
      </pc:sldChg>
      <pc:sldChg chg="modSp new mod">
        <pc:chgData name="SARAH ALOBEYTHA" userId="c6f9672c-575c-45ca-b37c-8bbcef58a7e9" providerId="ADAL" clId="{104CF782-BC6F-47AA-B990-7D4640747736}" dt="2026-01-18T13:35:37.301" v="1394" actId="27636"/>
        <pc:sldMkLst>
          <pc:docMk/>
          <pc:sldMk cId="1766932096" sldId="274"/>
        </pc:sldMkLst>
        <pc:spChg chg="mod">
          <ac:chgData name="SARAH ALOBEYTHA" userId="c6f9672c-575c-45ca-b37c-8bbcef58a7e9" providerId="ADAL" clId="{104CF782-BC6F-47AA-B990-7D4640747736}" dt="2026-01-18T09:48:26.860" v="1307" actId="14100"/>
          <ac:spMkLst>
            <pc:docMk/>
            <pc:sldMk cId="1766932096" sldId="274"/>
            <ac:spMk id="2" creationId="{CBFF86BD-5D48-93D1-D5B5-4E4FBAC22FBF}"/>
          </ac:spMkLst>
        </pc:spChg>
        <pc:spChg chg="mod">
          <ac:chgData name="SARAH ALOBEYTHA" userId="c6f9672c-575c-45ca-b37c-8bbcef58a7e9" providerId="ADAL" clId="{104CF782-BC6F-47AA-B990-7D4640747736}" dt="2026-01-18T13:35:37.301" v="1394" actId="27636"/>
          <ac:spMkLst>
            <pc:docMk/>
            <pc:sldMk cId="1766932096" sldId="274"/>
            <ac:spMk id="3" creationId="{6711BC39-FE84-B536-C459-2AC04EF8A0C1}"/>
          </ac:spMkLst>
        </pc:spChg>
      </pc:sldChg>
      <pc:sldChg chg="addSp delSp modSp new mod setBg">
        <pc:chgData name="SARAH ALOBEYTHA" userId="c6f9672c-575c-45ca-b37c-8bbcef58a7e9" providerId="ADAL" clId="{104CF782-BC6F-47AA-B990-7D4640747736}" dt="2026-01-18T12:56:27.740" v="1340" actId="14100"/>
        <pc:sldMkLst>
          <pc:docMk/>
          <pc:sldMk cId="2367873852" sldId="275"/>
        </pc:sldMkLst>
        <pc:spChg chg="del">
          <ac:chgData name="SARAH ALOBEYTHA" userId="c6f9672c-575c-45ca-b37c-8bbcef58a7e9" providerId="ADAL" clId="{104CF782-BC6F-47AA-B990-7D4640747736}" dt="2026-01-18T12:55:56.490" v="1334" actId="478"/>
          <ac:spMkLst>
            <pc:docMk/>
            <pc:sldMk cId="2367873852" sldId="275"/>
            <ac:spMk id="2" creationId="{9E3BB3C0-36B2-E864-001E-84599DD6F0E5}"/>
          </ac:spMkLst>
        </pc:spChg>
        <pc:spChg chg="mod">
          <ac:chgData name="SARAH ALOBEYTHA" userId="c6f9672c-575c-45ca-b37c-8bbcef58a7e9" providerId="ADAL" clId="{104CF782-BC6F-47AA-B990-7D4640747736}" dt="2026-01-18T12:56:06.868" v="1337" actId="26606"/>
          <ac:spMkLst>
            <pc:docMk/>
            <pc:sldMk cId="2367873852" sldId="275"/>
            <ac:spMk id="3" creationId="{19059510-5EB2-0B4A-4278-0583780C6834}"/>
          </ac:spMkLst>
        </pc:spChg>
        <pc:spChg chg="add">
          <ac:chgData name="SARAH ALOBEYTHA" userId="c6f9672c-575c-45ca-b37c-8bbcef58a7e9" providerId="ADAL" clId="{104CF782-BC6F-47AA-B990-7D4640747736}" dt="2026-01-18T12:56:06.868" v="1337" actId="26606"/>
          <ac:spMkLst>
            <pc:docMk/>
            <pc:sldMk cId="2367873852" sldId="275"/>
            <ac:spMk id="10" creationId="{879398A9-0D0D-4901-BDDF-B3D93CECA7B9}"/>
          </ac:spMkLst>
        </pc:spChg>
        <pc:spChg chg="add">
          <ac:chgData name="SARAH ALOBEYTHA" userId="c6f9672c-575c-45ca-b37c-8bbcef58a7e9" providerId="ADAL" clId="{104CF782-BC6F-47AA-B990-7D4640747736}" dt="2026-01-18T12:56:06.868" v="1337" actId="26606"/>
          <ac:spMkLst>
            <pc:docMk/>
            <pc:sldMk cId="2367873852" sldId="275"/>
            <ac:spMk id="12" creationId="{011FEC3B-E514-4E21-B2CB-7903A73569E2}"/>
          </ac:spMkLst>
        </pc:spChg>
        <pc:picChg chg="add mod">
          <ac:chgData name="SARAH ALOBEYTHA" userId="c6f9672c-575c-45ca-b37c-8bbcef58a7e9" providerId="ADAL" clId="{104CF782-BC6F-47AA-B990-7D4640747736}" dt="2026-01-18T12:56:27.740" v="1340" actId="14100"/>
          <ac:picMkLst>
            <pc:docMk/>
            <pc:sldMk cId="2367873852" sldId="275"/>
            <ac:picMk id="5" creationId="{CDD315C0-9D4D-8B58-ADB7-FBD578C50665}"/>
          </ac:picMkLst>
        </pc:picChg>
      </pc:sldChg>
      <pc:sldChg chg="addSp modSp new mod">
        <pc:chgData name="SARAH ALOBEYTHA" userId="c6f9672c-575c-45ca-b37c-8bbcef58a7e9" providerId="ADAL" clId="{104CF782-BC6F-47AA-B990-7D4640747736}" dt="2026-01-18T13:13:22.659" v="1349" actId="1076"/>
        <pc:sldMkLst>
          <pc:docMk/>
          <pc:sldMk cId="1032759658" sldId="276"/>
        </pc:sldMkLst>
        <pc:spChg chg="mod">
          <ac:chgData name="SARAH ALOBEYTHA" userId="c6f9672c-575c-45ca-b37c-8bbcef58a7e9" providerId="ADAL" clId="{104CF782-BC6F-47AA-B990-7D4640747736}" dt="2026-01-18T13:11:51.187" v="1342"/>
          <ac:spMkLst>
            <pc:docMk/>
            <pc:sldMk cId="1032759658" sldId="276"/>
            <ac:spMk id="2" creationId="{51E02BD1-C272-BC54-1C57-7D923C1D7676}"/>
          </ac:spMkLst>
        </pc:spChg>
        <pc:spChg chg="mod">
          <ac:chgData name="SARAH ALOBEYTHA" userId="c6f9672c-575c-45ca-b37c-8bbcef58a7e9" providerId="ADAL" clId="{104CF782-BC6F-47AA-B990-7D4640747736}" dt="2026-01-18T13:12:30.164" v="1343"/>
          <ac:spMkLst>
            <pc:docMk/>
            <pc:sldMk cId="1032759658" sldId="276"/>
            <ac:spMk id="3" creationId="{77DDF5CF-2246-5ACB-4115-A2EC4D73E0F0}"/>
          </ac:spMkLst>
        </pc:spChg>
        <pc:graphicFrameChg chg="add mod">
          <ac:chgData name="SARAH ALOBEYTHA" userId="c6f9672c-575c-45ca-b37c-8bbcef58a7e9" providerId="ADAL" clId="{104CF782-BC6F-47AA-B990-7D4640747736}" dt="2026-01-18T13:13:22.659" v="1349" actId="1076"/>
          <ac:graphicFrameMkLst>
            <pc:docMk/>
            <pc:sldMk cId="1032759658" sldId="276"/>
            <ac:graphicFrameMk id="4" creationId="{800A5CBD-29E7-3659-16F1-41AE815BE166}"/>
          </ac:graphicFrameMkLst>
        </pc:graphicFrameChg>
      </pc:sldChg>
      <pc:sldChg chg="addSp delSp modSp new mod setBg">
        <pc:chgData name="SARAH ALOBEYTHA" userId="c6f9672c-575c-45ca-b37c-8bbcef58a7e9" providerId="ADAL" clId="{104CF782-BC6F-47AA-B990-7D4640747736}" dt="2026-01-18T13:17:29.210" v="1362" actId="113"/>
        <pc:sldMkLst>
          <pc:docMk/>
          <pc:sldMk cId="2025786634" sldId="277"/>
        </pc:sldMkLst>
        <pc:spChg chg="del">
          <ac:chgData name="SARAH ALOBEYTHA" userId="c6f9672c-575c-45ca-b37c-8bbcef58a7e9" providerId="ADAL" clId="{104CF782-BC6F-47AA-B990-7D4640747736}" dt="2026-01-18T13:16:18.286" v="1352" actId="478"/>
          <ac:spMkLst>
            <pc:docMk/>
            <pc:sldMk cId="2025786634" sldId="277"/>
            <ac:spMk id="2" creationId="{C59B69F9-1BC1-2EF9-643B-B1A4A475F5E2}"/>
          </ac:spMkLst>
        </pc:spChg>
        <pc:spChg chg="del">
          <ac:chgData name="SARAH ALOBEYTHA" userId="c6f9672c-575c-45ca-b37c-8bbcef58a7e9" providerId="ADAL" clId="{104CF782-BC6F-47AA-B990-7D4640747736}" dt="2026-01-18T13:16:09.227" v="1351" actId="22"/>
          <ac:spMkLst>
            <pc:docMk/>
            <pc:sldMk cId="2025786634" sldId="277"/>
            <ac:spMk id="3" creationId="{F04797E8-4AB2-6F1F-8E78-6CE98713A4AF}"/>
          </ac:spMkLst>
        </pc:spChg>
        <pc:spChg chg="add mod">
          <ac:chgData name="SARAH ALOBEYTHA" userId="c6f9672c-575c-45ca-b37c-8bbcef58a7e9" providerId="ADAL" clId="{104CF782-BC6F-47AA-B990-7D4640747736}" dt="2026-01-18T13:17:29.210" v="1362" actId="113"/>
          <ac:spMkLst>
            <pc:docMk/>
            <pc:sldMk cId="2025786634" sldId="277"/>
            <ac:spMk id="9" creationId="{6F34B6ED-89B1-F286-31B1-4EAD1395964B}"/>
          </ac:spMkLst>
        </pc:spChg>
        <pc:spChg chg="add">
          <ac:chgData name="SARAH ALOBEYTHA" userId="c6f9672c-575c-45ca-b37c-8bbcef58a7e9" providerId="ADAL" clId="{104CF782-BC6F-47AA-B990-7D4640747736}" dt="2026-01-18T13:16:24.655" v="1354" actId="26606"/>
          <ac:spMkLst>
            <pc:docMk/>
            <pc:sldMk cId="2025786634" sldId="277"/>
            <ac:spMk id="12" creationId="{6515FC82-3453-4CBE-8895-4CCFF339529E}"/>
          </ac:spMkLst>
        </pc:spChg>
        <pc:spChg chg="add">
          <ac:chgData name="SARAH ALOBEYTHA" userId="c6f9672c-575c-45ca-b37c-8bbcef58a7e9" providerId="ADAL" clId="{104CF782-BC6F-47AA-B990-7D4640747736}" dt="2026-01-18T13:16:24.655" v="1354" actId="26606"/>
          <ac:spMkLst>
            <pc:docMk/>
            <pc:sldMk cId="2025786634" sldId="277"/>
            <ac:spMk id="14" creationId="{C5FD847B-65C0-4027-8DFC-70CB424514F8}"/>
          </ac:spMkLst>
        </pc:spChg>
        <pc:picChg chg="add mod ord">
          <ac:chgData name="SARAH ALOBEYTHA" userId="c6f9672c-575c-45ca-b37c-8bbcef58a7e9" providerId="ADAL" clId="{104CF782-BC6F-47AA-B990-7D4640747736}" dt="2026-01-18T13:16:24.655" v="1354" actId="26606"/>
          <ac:picMkLst>
            <pc:docMk/>
            <pc:sldMk cId="2025786634" sldId="277"/>
            <ac:picMk id="5" creationId="{7D80CF17-E97D-1FB2-0C4E-402192520029}"/>
          </ac:picMkLst>
        </pc:picChg>
      </pc:sldChg>
      <pc:sldChg chg="addSp delSp modSp new mod">
        <pc:chgData name="SARAH ALOBEYTHA" userId="c6f9672c-575c-45ca-b37c-8bbcef58a7e9" providerId="ADAL" clId="{104CF782-BC6F-47AA-B990-7D4640747736}" dt="2026-01-18T13:23:35.422" v="1387" actId="1076"/>
        <pc:sldMkLst>
          <pc:docMk/>
          <pc:sldMk cId="1081207086" sldId="278"/>
        </pc:sldMkLst>
        <pc:spChg chg="mod">
          <ac:chgData name="SARAH ALOBEYTHA" userId="c6f9672c-575c-45ca-b37c-8bbcef58a7e9" providerId="ADAL" clId="{104CF782-BC6F-47AA-B990-7D4640747736}" dt="2026-01-18T13:21:11.437" v="1371" actId="1076"/>
          <ac:spMkLst>
            <pc:docMk/>
            <pc:sldMk cId="1081207086" sldId="278"/>
            <ac:spMk id="2" creationId="{5AD3A72A-824E-72F9-6B02-99802137B7A8}"/>
          </ac:spMkLst>
        </pc:spChg>
        <pc:spChg chg="del">
          <ac:chgData name="SARAH ALOBEYTHA" userId="c6f9672c-575c-45ca-b37c-8bbcef58a7e9" providerId="ADAL" clId="{104CF782-BC6F-47AA-B990-7D4640747736}" dt="2026-01-18T13:20:42.773" v="1365" actId="478"/>
          <ac:spMkLst>
            <pc:docMk/>
            <pc:sldMk cId="1081207086" sldId="278"/>
            <ac:spMk id="3" creationId="{E3073D6E-47DA-35F8-48DB-C33EEE797538}"/>
          </ac:spMkLst>
        </pc:spChg>
        <pc:spChg chg="add del">
          <ac:chgData name="SARAH ALOBEYTHA" userId="c6f9672c-575c-45ca-b37c-8bbcef58a7e9" providerId="ADAL" clId="{104CF782-BC6F-47AA-B990-7D4640747736}" dt="2026-01-18T13:20:42.773" v="1365" actId="478"/>
          <ac:spMkLst>
            <pc:docMk/>
            <pc:sldMk cId="1081207086" sldId="278"/>
            <ac:spMk id="4" creationId="{055B218C-CA42-710D-EAAC-3DFE990C615F}"/>
          </ac:spMkLst>
        </pc:spChg>
        <pc:spChg chg="add del">
          <ac:chgData name="SARAH ALOBEYTHA" userId="c6f9672c-575c-45ca-b37c-8bbcef58a7e9" providerId="ADAL" clId="{104CF782-BC6F-47AA-B990-7D4640747736}" dt="2026-01-18T13:20:42.773" v="1365" actId="478"/>
          <ac:spMkLst>
            <pc:docMk/>
            <pc:sldMk cId="1081207086" sldId="278"/>
            <ac:spMk id="5" creationId="{5D10C6AF-0492-6437-14CC-4D1DEEEDA662}"/>
          </ac:spMkLst>
        </pc:spChg>
        <pc:spChg chg="add del">
          <ac:chgData name="SARAH ALOBEYTHA" userId="c6f9672c-575c-45ca-b37c-8bbcef58a7e9" providerId="ADAL" clId="{104CF782-BC6F-47AA-B990-7D4640747736}" dt="2026-01-18T13:20:42.773" v="1365" actId="478"/>
          <ac:spMkLst>
            <pc:docMk/>
            <pc:sldMk cId="1081207086" sldId="278"/>
            <ac:spMk id="6" creationId="{ACB9BE32-A980-80DC-D47B-0DA7C104CD65}"/>
          </ac:spMkLst>
        </pc:spChg>
        <pc:spChg chg="add del">
          <ac:chgData name="SARAH ALOBEYTHA" userId="c6f9672c-575c-45ca-b37c-8bbcef58a7e9" providerId="ADAL" clId="{104CF782-BC6F-47AA-B990-7D4640747736}" dt="2026-01-18T13:20:42.773" v="1365" actId="478"/>
          <ac:spMkLst>
            <pc:docMk/>
            <pc:sldMk cId="1081207086" sldId="278"/>
            <ac:spMk id="7" creationId="{7E2C1810-8730-D806-CCED-5AB49773A0B1}"/>
          </ac:spMkLst>
        </pc:spChg>
        <pc:spChg chg="add del">
          <ac:chgData name="SARAH ALOBEYTHA" userId="c6f9672c-575c-45ca-b37c-8bbcef58a7e9" providerId="ADAL" clId="{104CF782-BC6F-47AA-B990-7D4640747736}" dt="2026-01-18T13:20:42.773" v="1365" actId="478"/>
          <ac:spMkLst>
            <pc:docMk/>
            <pc:sldMk cId="1081207086" sldId="278"/>
            <ac:spMk id="8" creationId="{9EF8A364-D902-52CC-0F4A-14F7A33D5E8F}"/>
          </ac:spMkLst>
        </pc:spChg>
        <pc:spChg chg="add mod">
          <ac:chgData name="SARAH ALOBEYTHA" userId="c6f9672c-575c-45ca-b37c-8bbcef58a7e9" providerId="ADAL" clId="{104CF782-BC6F-47AA-B990-7D4640747736}" dt="2026-01-18T13:21:41.846" v="1374" actId="14100"/>
          <ac:spMkLst>
            <pc:docMk/>
            <pc:sldMk cId="1081207086" sldId="278"/>
            <ac:spMk id="10" creationId="{3E38D7A7-CAD0-A67D-C7DE-9D584624541D}"/>
          </ac:spMkLst>
        </pc:spChg>
        <pc:spChg chg="add mod">
          <ac:chgData name="SARAH ALOBEYTHA" userId="c6f9672c-575c-45ca-b37c-8bbcef58a7e9" providerId="ADAL" clId="{104CF782-BC6F-47AA-B990-7D4640747736}" dt="2026-01-18T13:22:37.528" v="1378" actId="1076"/>
          <ac:spMkLst>
            <pc:docMk/>
            <pc:sldMk cId="1081207086" sldId="278"/>
            <ac:spMk id="12" creationId="{9F8023C5-A6D1-9F55-24F0-7D9EC19905F3}"/>
          </ac:spMkLst>
        </pc:spChg>
        <pc:spChg chg="add mod">
          <ac:chgData name="SARAH ALOBEYTHA" userId="c6f9672c-575c-45ca-b37c-8bbcef58a7e9" providerId="ADAL" clId="{104CF782-BC6F-47AA-B990-7D4640747736}" dt="2026-01-18T13:22:59.747" v="1382" actId="14100"/>
          <ac:spMkLst>
            <pc:docMk/>
            <pc:sldMk cId="1081207086" sldId="278"/>
            <ac:spMk id="14" creationId="{7645BCC9-DB3D-1D63-7834-7A5F3D783659}"/>
          </ac:spMkLst>
        </pc:spChg>
        <pc:spChg chg="add mod">
          <ac:chgData name="SARAH ALOBEYTHA" userId="c6f9672c-575c-45ca-b37c-8bbcef58a7e9" providerId="ADAL" clId="{104CF782-BC6F-47AA-B990-7D4640747736}" dt="2026-01-18T13:23:35.422" v="1387" actId="1076"/>
          <ac:spMkLst>
            <pc:docMk/>
            <pc:sldMk cId="1081207086" sldId="278"/>
            <ac:spMk id="16" creationId="{68773A22-3B6B-5331-3B7C-27A74845A934}"/>
          </ac:spMkLst>
        </pc:spChg>
      </pc:sldChg>
      <pc:sldChg chg="modSp new mod">
        <pc:chgData name="SARAH ALOBEYTHA" userId="c6f9672c-575c-45ca-b37c-8bbcef58a7e9" providerId="ADAL" clId="{104CF782-BC6F-47AA-B990-7D4640747736}" dt="2026-01-18T13:51:36.753" v="1437" actId="1076"/>
        <pc:sldMkLst>
          <pc:docMk/>
          <pc:sldMk cId="2794834690" sldId="279"/>
        </pc:sldMkLst>
        <pc:spChg chg="mod">
          <ac:chgData name="SARAH ALOBEYTHA" userId="c6f9672c-575c-45ca-b37c-8bbcef58a7e9" providerId="ADAL" clId="{104CF782-BC6F-47AA-B990-7D4640747736}" dt="2026-01-18T13:51:36.753" v="1437" actId="1076"/>
          <ac:spMkLst>
            <pc:docMk/>
            <pc:sldMk cId="2794834690" sldId="279"/>
            <ac:spMk id="2" creationId="{94A5FB41-FE08-096A-1505-637EF13C1FFF}"/>
          </ac:spMkLst>
        </pc:spChg>
      </pc:sldChg>
      <pc:sldChg chg="new del">
        <pc:chgData name="SARAH ALOBEYTHA" userId="c6f9672c-575c-45ca-b37c-8bbcef58a7e9" providerId="ADAL" clId="{104CF782-BC6F-47AA-B990-7D4640747736}" dt="2026-01-18T13:51:05.660" v="1411" actId="47"/>
        <pc:sldMkLst>
          <pc:docMk/>
          <pc:sldMk cId="3207859295" sldId="279"/>
        </pc:sldMkLst>
      </pc:sldChg>
      <pc:sldChg chg="new del">
        <pc:chgData name="SARAH ALOBEYTHA" userId="c6f9672c-575c-45ca-b37c-8bbcef58a7e9" providerId="ADAL" clId="{104CF782-BC6F-47AA-B990-7D4640747736}" dt="2026-01-18T13:51:04.853" v="1410" actId="47"/>
        <pc:sldMkLst>
          <pc:docMk/>
          <pc:sldMk cId="1869573737" sldId="28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D6765E2E-B09A-4309-B53E-CC1EA609B82D}" type="datetimeFigureOut">
              <a:rPr lang="en-US" smtClean="0"/>
              <a:t>1/18/2026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BF89CA-C8D3-4C42-951F-FB24A7EB63B2}" type="slidenum">
              <a:rPr lang="en-US" smtClean="0"/>
              <a:t>‹#›</a:t>
            </a:fld>
            <a:endParaRPr lang="en-US"/>
          </a:p>
        </p:txBody>
      </p:sp>
    </p:spTree>
    <p:extLst>
      <p:ext uri="{BB962C8B-B14F-4D97-AF65-F5344CB8AC3E}">
        <p14:creationId xmlns:p14="http://schemas.microsoft.com/office/powerpoint/2010/main" val="161409557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765E2E-B09A-4309-B53E-CC1EA609B82D}" type="datetimeFigureOut">
              <a:rPr lang="en-US" smtClean="0"/>
              <a:t>1/18/2026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BF89CA-C8D3-4C42-951F-FB24A7EB63B2}" type="slidenum">
              <a:rPr lang="en-US" smtClean="0"/>
              <a:t>‹#›</a:t>
            </a:fld>
            <a:endParaRPr lang="en-US"/>
          </a:p>
        </p:txBody>
      </p:sp>
    </p:spTree>
    <p:extLst>
      <p:ext uri="{BB962C8B-B14F-4D97-AF65-F5344CB8AC3E}">
        <p14:creationId xmlns:p14="http://schemas.microsoft.com/office/powerpoint/2010/main" val="1902359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D6765E2E-B09A-4309-B53E-CC1EA609B82D}" type="datetimeFigureOut">
              <a:rPr lang="en-US" smtClean="0"/>
              <a:t>1/18/2026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BF89CA-C8D3-4C42-951F-FB24A7EB63B2}" type="slidenum">
              <a:rPr lang="en-US" smtClean="0"/>
              <a:t>‹#›</a:t>
            </a:fld>
            <a:endParaRPr lang="en-US"/>
          </a:p>
        </p:txBody>
      </p:sp>
    </p:spTree>
    <p:extLst>
      <p:ext uri="{BB962C8B-B14F-4D97-AF65-F5344CB8AC3E}">
        <p14:creationId xmlns:p14="http://schemas.microsoft.com/office/powerpoint/2010/main" val="53864814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D6765E2E-B09A-4309-B53E-CC1EA609B82D}" type="datetimeFigureOut">
              <a:rPr lang="en-US" smtClean="0"/>
              <a:t>1/18/2026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ABF89CA-C8D3-4C42-951F-FB24A7EB63B2}" type="slidenum">
              <a:rPr lang="en-US" smtClean="0"/>
              <a:t>‹#›</a:t>
            </a:fld>
            <a:endParaRPr lang="en-US"/>
          </a:p>
        </p:txBody>
      </p:sp>
    </p:spTree>
    <p:extLst>
      <p:ext uri="{BB962C8B-B14F-4D97-AF65-F5344CB8AC3E}">
        <p14:creationId xmlns:p14="http://schemas.microsoft.com/office/powerpoint/2010/main" val="1400271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D6765E2E-B09A-4309-B53E-CC1EA609B82D}" type="datetimeFigureOut">
              <a:rPr lang="en-US" smtClean="0"/>
              <a:t>1/18/2026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BF89CA-C8D3-4C42-951F-FB24A7EB63B2}"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45511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765E2E-B09A-4309-B53E-CC1EA609B82D}" type="datetimeFigureOut">
              <a:rPr lang="en-US" smtClean="0"/>
              <a:t>1/18/2026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ABF89CA-C8D3-4C42-951F-FB24A7EB63B2}" type="slidenum">
              <a:rPr lang="en-US" smtClean="0"/>
              <a:t>‹#›</a:t>
            </a:fld>
            <a:endParaRPr lang="en-US"/>
          </a:p>
        </p:txBody>
      </p:sp>
    </p:spTree>
    <p:extLst>
      <p:ext uri="{BB962C8B-B14F-4D97-AF65-F5344CB8AC3E}">
        <p14:creationId xmlns:p14="http://schemas.microsoft.com/office/powerpoint/2010/main" val="1978183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765E2E-B09A-4309-B53E-CC1EA609B82D}" type="datetimeFigureOut">
              <a:rPr lang="en-US" smtClean="0"/>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ABF89CA-C8D3-4C42-951F-FB24A7EB63B2}" type="slidenum">
              <a:rPr lang="en-US" smtClean="0"/>
              <a:t>‹#›</a:t>
            </a:fld>
            <a:endParaRPr lang="en-US"/>
          </a:p>
        </p:txBody>
      </p:sp>
    </p:spTree>
    <p:extLst>
      <p:ext uri="{BB962C8B-B14F-4D97-AF65-F5344CB8AC3E}">
        <p14:creationId xmlns:p14="http://schemas.microsoft.com/office/powerpoint/2010/main" val="885112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6765E2E-B09A-4309-B53E-CC1EA609B82D}" type="datetimeFigureOut">
              <a:rPr lang="en-US" smtClean="0"/>
              <a:t>1/18/2026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CABF89CA-C8D3-4C42-951F-FB24A7EB63B2}" type="slidenum">
              <a:rPr lang="en-US" smtClean="0"/>
              <a:t>‹#›</a:t>
            </a:fld>
            <a:endParaRPr lang="en-US"/>
          </a:p>
        </p:txBody>
      </p:sp>
    </p:spTree>
    <p:extLst>
      <p:ext uri="{BB962C8B-B14F-4D97-AF65-F5344CB8AC3E}">
        <p14:creationId xmlns:p14="http://schemas.microsoft.com/office/powerpoint/2010/main" val="619185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D6765E2E-B09A-4309-B53E-CC1EA609B82D}" type="datetimeFigureOut">
              <a:rPr lang="en-US" smtClean="0"/>
              <a:t>1/18/2026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CABF89CA-C8D3-4C42-951F-FB24A7EB63B2}" type="slidenum">
              <a:rPr lang="en-US" smtClean="0"/>
              <a:t>‹#›</a:t>
            </a:fld>
            <a:endParaRPr lang="en-US"/>
          </a:p>
        </p:txBody>
      </p:sp>
    </p:spTree>
    <p:extLst>
      <p:ext uri="{BB962C8B-B14F-4D97-AF65-F5344CB8AC3E}">
        <p14:creationId xmlns:p14="http://schemas.microsoft.com/office/powerpoint/2010/main" val="2024019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765E2E-B09A-4309-B53E-CC1EA609B82D}"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BF89CA-C8D3-4C42-951F-FB24A7EB63B2}" type="slidenum">
              <a:rPr lang="en-US" smtClean="0"/>
              <a:t>‹#›</a:t>
            </a:fld>
            <a:endParaRPr lang="en-US"/>
          </a:p>
        </p:txBody>
      </p:sp>
    </p:spTree>
    <p:extLst>
      <p:ext uri="{BB962C8B-B14F-4D97-AF65-F5344CB8AC3E}">
        <p14:creationId xmlns:p14="http://schemas.microsoft.com/office/powerpoint/2010/main" val="3859883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765E2E-B09A-4309-B53E-CC1EA609B82D}"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BF89CA-C8D3-4C42-951F-FB24A7EB63B2}" type="slidenum">
              <a:rPr lang="en-US" smtClean="0"/>
              <a:t>‹#›</a:t>
            </a:fld>
            <a:endParaRPr lang="en-US"/>
          </a:p>
        </p:txBody>
      </p:sp>
    </p:spTree>
    <p:extLst>
      <p:ext uri="{BB962C8B-B14F-4D97-AF65-F5344CB8AC3E}">
        <p14:creationId xmlns:p14="http://schemas.microsoft.com/office/powerpoint/2010/main" val="3707558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D6765E2E-B09A-4309-B53E-CC1EA609B82D}" type="datetimeFigureOut">
              <a:rPr lang="en-US" smtClean="0"/>
              <a:t>1/18/2026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CABF89CA-C8D3-4C42-951F-FB24A7EB63B2}" type="slidenum">
              <a:rPr lang="en-US" smtClean="0"/>
              <a:t>‹#›</a:t>
            </a:fld>
            <a:endParaRPr lang="en-US"/>
          </a:p>
        </p:txBody>
      </p:sp>
    </p:spTree>
    <p:extLst>
      <p:ext uri="{BB962C8B-B14F-4D97-AF65-F5344CB8AC3E}">
        <p14:creationId xmlns:p14="http://schemas.microsoft.com/office/powerpoint/2010/main" val="395101018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3F27D-775A-87AF-8358-A9CAD73F31BE}"/>
              </a:ext>
            </a:extLst>
          </p:cNvPr>
          <p:cNvSpPr>
            <a:spLocks noGrp="1"/>
          </p:cNvSpPr>
          <p:nvPr>
            <p:ph type="ctrTitle"/>
          </p:nvPr>
        </p:nvSpPr>
        <p:spPr/>
        <p:txBody>
          <a:bodyPr/>
          <a:lstStyle/>
          <a:p>
            <a:r>
              <a:rPr lang="en-US" dirty="0"/>
              <a:t>Data analytics presentation </a:t>
            </a:r>
          </a:p>
        </p:txBody>
      </p:sp>
      <p:sp>
        <p:nvSpPr>
          <p:cNvPr id="3" name="Subtitle 2">
            <a:extLst>
              <a:ext uri="{FF2B5EF4-FFF2-40B4-BE49-F238E27FC236}">
                <a16:creationId xmlns:a16="http://schemas.microsoft.com/office/drawing/2014/main" id="{9CC48B00-4F11-E077-86AF-BA3272302BDD}"/>
              </a:ext>
            </a:extLst>
          </p:cNvPr>
          <p:cNvSpPr>
            <a:spLocks noGrp="1"/>
          </p:cNvSpPr>
          <p:nvPr>
            <p:ph type="subTitle" idx="1"/>
          </p:nvPr>
        </p:nvSpPr>
        <p:spPr/>
        <p:txBody>
          <a:bodyPr/>
          <a:lstStyle/>
          <a:p>
            <a:r>
              <a:rPr lang="en-US" dirty="0"/>
              <a:t>Sarah Ahmad </a:t>
            </a:r>
            <a:r>
              <a:rPr lang="en-US" dirty="0" err="1"/>
              <a:t>Lafee</a:t>
            </a:r>
            <a:r>
              <a:rPr lang="en-US" dirty="0"/>
              <a:t> Alobeytha</a:t>
            </a:r>
          </a:p>
          <a:p>
            <a:r>
              <a:rPr lang="en-US" dirty="0"/>
              <a:t>24110331 </a:t>
            </a:r>
          </a:p>
        </p:txBody>
      </p:sp>
    </p:spTree>
    <p:extLst>
      <p:ext uri="{BB962C8B-B14F-4D97-AF65-F5344CB8AC3E}">
        <p14:creationId xmlns:p14="http://schemas.microsoft.com/office/powerpoint/2010/main" val="763438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9C62B-F264-F799-23C4-50F5746D62F5}"/>
              </a:ext>
            </a:extLst>
          </p:cNvPr>
          <p:cNvSpPr>
            <a:spLocks noGrp="1"/>
          </p:cNvSpPr>
          <p:nvPr>
            <p:ph type="title"/>
          </p:nvPr>
        </p:nvSpPr>
        <p:spPr>
          <a:xfrm>
            <a:off x="1502839" y="413020"/>
            <a:ext cx="9003332" cy="1188720"/>
          </a:xfrm>
        </p:spPr>
        <p:txBody>
          <a:bodyPr>
            <a:normAutofit/>
          </a:bodyPr>
          <a:lstStyle/>
          <a:p>
            <a:r>
              <a:rPr lang="en-US" dirty="0"/>
              <a:t>Invoice Data Analytics: Descriptive, Predictive, and Prescriptive Analysis</a:t>
            </a:r>
          </a:p>
        </p:txBody>
      </p:sp>
      <p:sp>
        <p:nvSpPr>
          <p:cNvPr id="3" name="Content Placeholder 2">
            <a:extLst>
              <a:ext uri="{FF2B5EF4-FFF2-40B4-BE49-F238E27FC236}">
                <a16:creationId xmlns:a16="http://schemas.microsoft.com/office/drawing/2014/main" id="{44592472-1DEB-97B2-085A-BCD05979FC30}"/>
              </a:ext>
            </a:extLst>
          </p:cNvPr>
          <p:cNvSpPr>
            <a:spLocks noGrp="1"/>
          </p:cNvSpPr>
          <p:nvPr>
            <p:ph idx="1"/>
          </p:nvPr>
        </p:nvSpPr>
        <p:spPr>
          <a:xfrm>
            <a:off x="230819" y="1775534"/>
            <a:ext cx="11825057" cy="4989251"/>
          </a:xfrm>
        </p:spPr>
        <p:txBody>
          <a:bodyPr>
            <a:normAutofit fontScale="92500" lnSpcReduction="10000"/>
          </a:bodyPr>
          <a:lstStyle/>
          <a:p>
            <a:r>
              <a:rPr lang="en-US" b="1" dirty="0"/>
              <a:t>Introduction</a:t>
            </a:r>
            <a:endParaRPr lang="en-US" dirty="0"/>
          </a:p>
          <a:p>
            <a:r>
              <a:rPr lang="en-US" dirty="0"/>
              <a:t>Modern organizations generate large volumes of invoice data that contain valuable financial and operational insights.</a:t>
            </a:r>
          </a:p>
          <a:p>
            <a:r>
              <a:rPr lang="en-US" dirty="0"/>
              <a:t>Analyzing invoice data helps organizations understand payment behavior, predict future outcomes, and make optimal operational decisions.</a:t>
            </a:r>
          </a:p>
          <a:p>
            <a:r>
              <a:rPr lang="en-US" dirty="0"/>
              <a:t>This project applies data analytics techniques to a large-scale invoice dataset containing over </a:t>
            </a:r>
            <a:r>
              <a:rPr lang="en-US" b="1" dirty="0"/>
              <a:t>500,000 records</a:t>
            </a:r>
            <a:r>
              <a:rPr lang="en-US" dirty="0"/>
              <a:t>.</a:t>
            </a:r>
          </a:p>
          <a:p>
            <a:r>
              <a:rPr lang="en-US" dirty="0"/>
              <a:t>The analysis is divided into three main stages:</a:t>
            </a:r>
          </a:p>
          <a:p>
            <a:pPr lvl="1"/>
            <a:r>
              <a:rPr lang="en-US" b="1" dirty="0"/>
              <a:t>Descriptive analytics</a:t>
            </a:r>
            <a:r>
              <a:rPr lang="en-US" dirty="0"/>
              <a:t> to explore and summarize invoice data</a:t>
            </a:r>
          </a:p>
          <a:p>
            <a:pPr lvl="1"/>
            <a:r>
              <a:rPr lang="en-US" b="1" dirty="0"/>
              <a:t>Predictive analytics</a:t>
            </a:r>
            <a:r>
              <a:rPr lang="en-US" dirty="0"/>
              <a:t> to forecast expected payment amounts</a:t>
            </a:r>
          </a:p>
          <a:p>
            <a:pPr lvl="1"/>
            <a:r>
              <a:rPr lang="en-US" b="1" dirty="0"/>
              <a:t>Prescriptive analytics</a:t>
            </a:r>
            <a:r>
              <a:rPr lang="en-US" dirty="0"/>
              <a:t> to optimize invoice processing costs across multiple centers</a:t>
            </a:r>
          </a:p>
          <a:p>
            <a:r>
              <a:rPr lang="en-US" b="1" dirty="0"/>
              <a:t>Why Analytics Matters to Management</a:t>
            </a:r>
            <a:endParaRPr lang="en-US" dirty="0"/>
          </a:p>
          <a:p>
            <a:r>
              <a:rPr lang="en-US" dirty="0"/>
              <a:t>Supports data-driven decisions</a:t>
            </a:r>
          </a:p>
          <a:p>
            <a:r>
              <a:rPr lang="en-US" dirty="0"/>
              <a:t>Improves forecasting and planning</a:t>
            </a:r>
          </a:p>
          <a:p>
            <a:r>
              <a:rPr lang="en-US" dirty="0"/>
              <a:t>Optimizes cost and resource allocation</a:t>
            </a:r>
          </a:p>
          <a:p>
            <a:r>
              <a:rPr lang="en-US" dirty="0"/>
              <a:t>Reduces risk and uncertainty</a:t>
            </a:r>
          </a:p>
          <a:p>
            <a:endParaRPr lang="en-US" dirty="0"/>
          </a:p>
        </p:txBody>
      </p:sp>
    </p:spTree>
    <p:extLst>
      <p:ext uri="{BB962C8B-B14F-4D97-AF65-F5344CB8AC3E}">
        <p14:creationId xmlns:p14="http://schemas.microsoft.com/office/powerpoint/2010/main" val="2652324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45699-638C-80F3-DC34-69220636065D}"/>
              </a:ext>
            </a:extLst>
          </p:cNvPr>
          <p:cNvSpPr>
            <a:spLocks noGrp="1"/>
          </p:cNvSpPr>
          <p:nvPr>
            <p:ph type="title"/>
          </p:nvPr>
        </p:nvSpPr>
        <p:spPr/>
        <p:txBody>
          <a:bodyPr/>
          <a:lstStyle/>
          <a:p>
            <a:r>
              <a:rPr lang="en-US" dirty="0"/>
              <a:t>Project Objectives</a:t>
            </a:r>
            <a:br>
              <a:rPr lang="en-US" dirty="0"/>
            </a:br>
            <a:endParaRPr lang="en-US" dirty="0"/>
          </a:p>
        </p:txBody>
      </p:sp>
      <p:sp>
        <p:nvSpPr>
          <p:cNvPr id="5" name="Content Placeholder 4">
            <a:extLst>
              <a:ext uri="{FF2B5EF4-FFF2-40B4-BE49-F238E27FC236}">
                <a16:creationId xmlns:a16="http://schemas.microsoft.com/office/drawing/2014/main" id="{800EBA78-A4E0-FD03-06CD-E16F6F82F113}"/>
              </a:ext>
            </a:extLst>
          </p:cNvPr>
          <p:cNvSpPr>
            <a:spLocks noGrp="1"/>
          </p:cNvSpPr>
          <p:nvPr>
            <p:ph idx="1"/>
          </p:nvPr>
        </p:nvSpPr>
        <p:spPr/>
        <p:txBody>
          <a:bodyPr/>
          <a:lstStyle/>
          <a:p>
            <a:r>
              <a:rPr lang="en-US" dirty="0"/>
              <a:t>Explore invoice data using descriptive analytics</a:t>
            </a:r>
          </a:p>
          <a:p>
            <a:r>
              <a:rPr lang="en-US" dirty="0"/>
              <a:t>Predict expected payment amounts using multiple models</a:t>
            </a:r>
          </a:p>
          <a:p>
            <a:r>
              <a:rPr lang="en-US" dirty="0"/>
              <a:t>Optimize invoice processing costs using prescriptive analytics</a:t>
            </a:r>
          </a:p>
          <a:p>
            <a:endParaRPr lang="en-US" dirty="0"/>
          </a:p>
          <a:p>
            <a:r>
              <a:rPr lang="en-US" dirty="0"/>
              <a:t>The project follows the full analytics lifecycle: understanding the data, predicting outcomes, and optimizing decisions.</a:t>
            </a:r>
          </a:p>
          <a:p>
            <a:endParaRPr lang="en-US" dirty="0"/>
          </a:p>
        </p:txBody>
      </p:sp>
    </p:spTree>
    <p:extLst>
      <p:ext uri="{BB962C8B-B14F-4D97-AF65-F5344CB8AC3E}">
        <p14:creationId xmlns:p14="http://schemas.microsoft.com/office/powerpoint/2010/main" val="2421001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7CDEF-069E-A58D-4FCA-A3B7214DD89B}"/>
              </a:ext>
            </a:extLst>
          </p:cNvPr>
          <p:cNvSpPr>
            <a:spLocks noGrp="1"/>
          </p:cNvSpPr>
          <p:nvPr>
            <p:ph type="title"/>
          </p:nvPr>
        </p:nvSpPr>
        <p:spPr/>
        <p:txBody>
          <a:bodyPr/>
          <a:lstStyle/>
          <a:p>
            <a:r>
              <a:rPr lang="en-US" dirty="0"/>
              <a:t>Activity 1: Descriptive Analytics</a:t>
            </a:r>
          </a:p>
        </p:txBody>
      </p:sp>
      <p:sp>
        <p:nvSpPr>
          <p:cNvPr id="3" name="Content Placeholder 2">
            <a:extLst>
              <a:ext uri="{FF2B5EF4-FFF2-40B4-BE49-F238E27FC236}">
                <a16:creationId xmlns:a16="http://schemas.microsoft.com/office/drawing/2014/main" id="{FE896099-41F3-27DB-1E50-06CC057056C9}"/>
              </a:ext>
            </a:extLst>
          </p:cNvPr>
          <p:cNvSpPr>
            <a:spLocks noGrp="1"/>
          </p:cNvSpPr>
          <p:nvPr>
            <p:ph idx="1"/>
          </p:nvPr>
        </p:nvSpPr>
        <p:spPr>
          <a:xfrm>
            <a:off x="1959429" y="2530930"/>
            <a:ext cx="8001435" cy="3209098"/>
          </a:xfrm>
        </p:spPr>
        <p:txBody>
          <a:bodyPr>
            <a:noAutofit/>
          </a:bodyPr>
          <a:lstStyle/>
          <a:p>
            <a:r>
              <a:rPr lang="en-US" b="1" dirty="0"/>
              <a:t>Frequency analysis : </a:t>
            </a:r>
          </a:p>
          <a:p>
            <a:r>
              <a:rPr lang="en-US" dirty="0"/>
              <a:t>CREDIT: 319,419 invoices (≈ 60%)</a:t>
            </a:r>
          </a:p>
          <a:p>
            <a:r>
              <a:rPr lang="en-US" dirty="0"/>
              <a:t>CASH: 212,638 invoices (≈ 40%)</a:t>
            </a:r>
          </a:p>
          <a:p>
            <a:r>
              <a:rPr lang="en-US" b="1" dirty="0"/>
              <a:t>Real Insight </a:t>
            </a:r>
          </a:p>
          <a:p>
            <a:r>
              <a:rPr lang="en-US" dirty="0"/>
              <a:t>The organization relies more heavily on credit-based transactions than cash.</a:t>
            </a:r>
          </a:p>
          <a:p>
            <a:r>
              <a:rPr lang="en-US" dirty="0"/>
              <a:t>This increases exposure to payment delays and credit risk, especially when combined with overdue invoices.</a:t>
            </a:r>
          </a:p>
          <a:p>
            <a:r>
              <a:rPr lang="en-US" b="1" dirty="0"/>
              <a:t>Decision Implication</a:t>
            </a:r>
          </a:p>
          <a:p>
            <a:r>
              <a:rPr lang="en-US" dirty="0"/>
              <a:t>Strengthen credit control policies.</a:t>
            </a:r>
          </a:p>
          <a:p>
            <a:r>
              <a:rPr lang="en-US" dirty="0"/>
              <a:t>Prioritize monitoring of credit invoices in predictive models.</a:t>
            </a:r>
          </a:p>
          <a:p>
            <a:endParaRPr lang="en-US" dirty="0"/>
          </a:p>
          <a:p>
            <a:endParaRPr lang="en-US" dirty="0"/>
          </a:p>
        </p:txBody>
      </p:sp>
    </p:spTree>
    <p:extLst>
      <p:ext uri="{BB962C8B-B14F-4D97-AF65-F5344CB8AC3E}">
        <p14:creationId xmlns:p14="http://schemas.microsoft.com/office/powerpoint/2010/main" val="351286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D64EAF-2A72-5578-7FBE-4401218AED98}"/>
              </a:ext>
            </a:extLst>
          </p:cNvPr>
          <p:cNvSpPr>
            <a:spLocks noGrp="1"/>
          </p:cNvSpPr>
          <p:nvPr>
            <p:ph idx="1"/>
          </p:nvPr>
        </p:nvSpPr>
        <p:spPr>
          <a:xfrm>
            <a:off x="114300" y="130629"/>
            <a:ext cx="11903529" cy="6727371"/>
          </a:xfrm>
        </p:spPr>
        <p:txBody>
          <a:bodyPr>
            <a:normAutofit fontScale="85000" lnSpcReduction="20000"/>
          </a:bodyPr>
          <a:lstStyle/>
          <a:p>
            <a:r>
              <a:rPr lang="en-US" b="1" dirty="0"/>
              <a:t>From your contingency table</a:t>
            </a:r>
            <a:endParaRPr lang="en-US" dirty="0"/>
          </a:p>
          <a:p>
            <a:r>
              <a:rPr lang="en-US" dirty="0"/>
              <a:t>CREDIT is higher than CASH in:</a:t>
            </a:r>
          </a:p>
          <a:p>
            <a:pPr lvl="1"/>
            <a:r>
              <a:rPr lang="en-US" dirty="0"/>
              <a:t>GENERAL_SALES</a:t>
            </a:r>
          </a:p>
          <a:p>
            <a:pPr lvl="1"/>
            <a:r>
              <a:rPr lang="en-US" dirty="0"/>
              <a:t>INCOME</a:t>
            </a:r>
          </a:p>
          <a:p>
            <a:pPr lvl="1"/>
            <a:r>
              <a:rPr lang="en-US" dirty="0"/>
              <a:t>SPECIAL_SALES (especially strong)</a:t>
            </a:r>
          </a:p>
          <a:p>
            <a:r>
              <a:rPr lang="en-US" b="1" dirty="0"/>
              <a:t>Real Insight</a:t>
            </a:r>
          </a:p>
          <a:p>
            <a:r>
              <a:rPr lang="en-US" dirty="0"/>
              <a:t>Regardless of invoice category, customers prefer credit payments.</a:t>
            </a:r>
          </a:p>
          <a:p>
            <a:r>
              <a:rPr lang="en-US" dirty="0"/>
              <a:t>High-value or special sales are more frequently paid using credit.</a:t>
            </a:r>
          </a:p>
          <a:p>
            <a:r>
              <a:rPr lang="en-US" b="1" dirty="0"/>
              <a:t>Decision Implication</a:t>
            </a:r>
          </a:p>
          <a:p>
            <a:r>
              <a:rPr lang="en-US" dirty="0"/>
              <a:t>Credit risk management should be applied across all invoice types, not just special cases.</a:t>
            </a:r>
          </a:p>
          <a:p>
            <a:r>
              <a:rPr lang="en-US" dirty="0"/>
              <a:t>Invoice category alone is not sufficient to predict payment method.</a:t>
            </a:r>
          </a:p>
          <a:p>
            <a:r>
              <a:rPr lang="en-US" b="1" dirty="0"/>
              <a:t>From central tendency</a:t>
            </a:r>
            <a:endParaRPr lang="en-US" dirty="0"/>
          </a:p>
          <a:p>
            <a:r>
              <a:rPr lang="en-US" dirty="0"/>
              <a:t>Mean ≈ 1620 JD</a:t>
            </a:r>
          </a:p>
          <a:p>
            <a:r>
              <a:rPr lang="en-US" dirty="0"/>
              <a:t>Median ≈ 1179 JD</a:t>
            </a:r>
          </a:p>
          <a:p>
            <a:r>
              <a:rPr lang="en-US" dirty="0"/>
              <a:t>Mode ≈ 378 JD</a:t>
            </a:r>
          </a:p>
          <a:p>
            <a:r>
              <a:rPr lang="en-US" b="1" dirty="0"/>
              <a:t>Real Insight</a:t>
            </a:r>
          </a:p>
          <a:p>
            <a:r>
              <a:rPr lang="en-US" dirty="0"/>
              <a:t>The mean is much higher than the median and mode.</a:t>
            </a:r>
          </a:p>
          <a:p>
            <a:r>
              <a:rPr lang="en-US" dirty="0"/>
              <a:t>This indicates a right-skewed distribution caused by high-value invoices.</a:t>
            </a:r>
          </a:p>
          <a:p>
            <a:r>
              <a:rPr lang="en-US" b="1" dirty="0"/>
              <a:t>Decision Implication</a:t>
            </a:r>
          </a:p>
          <a:p>
            <a:r>
              <a:rPr lang="en-US" dirty="0"/>
              <a:t>Using the mean alone would overestimate a “typical” invoice.</a:t>
            </a:r>
          </a:p>
          <a:p>
            <a:r>
              <a:rPr lang="en-US" dirty="0"/>
              <a:t>Median is a more reliable indicator for operational planning.</a:t>
            </a:r>
          </a:p>
          <a:p>
            <a:endParaRPr lang="en-US" b="1" dirty="0"/>
          </a:p>
        </p:txBody>
      </p:sp>
    </p:spTree>
    <p:extLst>
      <p:ext uri="{BB962C8B-B14F-4D97-AF65-F5344CB8AC3E}">
        <p14:creationId xmlns:p14="http://schemas.microsoft.com/office/powerpoint/2010/main" val="476321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DA55F4-8ED5-41EF-7923-C0A404405D12}"/>
              </a:ext>
            </a:extLst>
          </p:cNvPr>
          <p:cNvSpPr>
            <a:spLocks noGrp="1"/>
          </p:cNvSpPr>
          <p:nvPr>
            <p:ph idx="1"/>
          </p:nvPr>
        </p:nvSpPr>
        <p:spPr>
          <a:xfrm>
            <a:off x="408215" y="163287"/>
            <a:ext cx="11593286" cy="6351814"/>
          </a:xfrm>
        </p:spPr>
        <p:txBody>
          <a:bodyPr>
            <a:normAutofit fontScale="92500" lnSpcReduction="20000"/>
          </a:bodyPr>
          <a:lstStyle/>
          <a:p>
            <a:r>
              <a:rPr lang="en-US" b="1" dirty="0"/>
              <a:t>From percentiles</a:t>
            </a:r>
            <a:endParaRPr lang="en-US" dirty="0"/>
          </a:p>
          <a:p>
            <a:r>
              <a:rPr lang="en-US" dirty="0"/>
              <a:t>75% of invoices ≤ </a:t>
            </a:r>
            <a:r>
              <a:rPr lang="en-US" b="1" dirty="0"/>
              <a:t>2020 JD</a:t>
            </a:r>
            <a:endParaRPr lang="en-US" dirty="0"/>
          </a:p>
          <a:p>
            <a:r>
              <a:rPr lang="en-US" dirty="0"/>
              <a:t>90% ≤ </a:t>
            </a:r>
            <a:r>
              <a:rPr lang="en-US" b="1" dirty="0"/>
              <a:t>3263 JD</a:t>
            </a:r>
            <a:endParaRPr lang="en-US" dirty="0"/>
          </a:p>
          <a:p>
            <a:r>
              <a:rPr lang="en-US" dirty="0"/>
              <a:t>95% ≤ </a:t>
            </a:r>
            <a:r>
              <a:rPr lang="en-US" b="1" dirty="0"/>
              <a:t>3973 JD</a:t>
            </a:r>
            <a:endParaRPr lang="en-US" dirty="0"/>
          </a:p>
          <a:p>
            <a:r>
              <a:rPr lang="en-US" b="1" dirty="0"/>
              <a:t>Real Insight</a:t>
            </a:r>
          </a:p>
          <a:p>
            <a:r>
              <a:rPr lang="en-US" dirty="0"/>
              <a:t>Most invoices are relatively moderate in value.</a:t>
            </a:r>
          </a:p>
          <a:p>
            <a:r>
              <a:rPr lang="en-US" dirty="0"/>
              <a:t>A small top percentage contributes disproportionately to revenue.</a:t>
            </a:r>
          </a:p>
          <a:p>
            <a:r>
              <a:rPr lang="en-US" b="1" dirty="0"/>
              <a:t>Decision Implication</a:t>
            </a:r>
          </a:p>
          <a:p>
            <a:r>
              <a:rPr lang="en-US" dirty="0"/>
              <a:t>High-value invoices should be prioritized for : Validation, Monitoring, Predictive accuracy</a:t>
            </a:r>
          </a:p>
          <a:p>
            <a:r>
              <a:rPr lang="en-US" b="1" dirty="0"/>
              <a:t>From dispersion</a:t>
            </a:r>
            <a:endParaRPr lang="en-US" dirty="0"/>
          </a:p>
          <a:p>
            <a:r>
              <a:rPr lang="en-US" dirty="0"/>
              <a:t>Standard deviation ≈ </a:t>
            </a:r>
            <a:r>
              <a:rPr lang="en-US" b="1" dirty="0"/>
              <a:t>2928 JD</a:t>
            </a:r>
            <a:endParaRPr lang="en-US" dirty="0"/>
          </a:p>
          <a:p>
            <a:r>
              <a:rPr lang="en-US" dirty="0"/>
              <a:t>Range ≈ </a:t>
            </a:r>
            <a:r>
              <a:rPr lang="en-US" b="1" dirty="0"/>
              <a:t>109,152 JD</a:t>
            </a:r>
            <a:endParaRPr lang="en-US" dirty="0"/>
          </a:p>
          <a:p>
            <a:r>
              <a:rPr lang="en-US" dirty="0"/>
              <a:t>IQR ≈ </a:t>
            </a:r>
            <a:r>
              <a:rPr lang="en-US" b="1" dirty="0"/>
              <a:t>1385 JD</a:t>
            </a:r>
            <a:endParaRPr lang="en-US" dirty="0"/>
          </a:p>
          <a:p>
            <a:r>
              <a:rPr lang="en-US" b="1" dirty="0"/>
              <a:t>Real Insight</a:t>
            </a:r>
          </a:p>
          <a:p>
            <a:r>
              <a:rPr lang="en-US" dirty="0"/>
              <a:t>Invoice values vary widely.</a:t>
            </a:r>
          </a:p>
          <a:p>
            <a:r>
              <a:rPr lang="en-US" dirty="0"/>
              <a:t>Extreme values significantly affect overall statistics.</a:t>
            </a:r>
          </a:p>
          <a:p>
            <a:r>
              <a:rPr lang="en-US" b="1" dirty="0"/>
              <a:t>Decision Implication</a:t>
            </a:r>
          </a:p>
          <a:p>
            <a:r>
              <a:rPr lang="en-US" dirty="0"/>
              <a:t>One-size-fits-all processing is inefficient.</a:t>
            </a:r>
          </a:p>
          <a:p>
            <a:r>
              <a:rPr lang="en-US" dirty="0"/>
              <a:t>High-value invoices require stricter controls than low-value ones.</a:t>
            </a:r>
          </a:p>
          <a:p>
            <a:endParaRPr lang="en-US" dirty="0"/>
          </a:p>
          <a:p>
            <a:endParaRPr lang="en-US" b="1" dirty="0"/>
          </a:p>
        </p:txBody>
      </p:sp>
    </p:spTree>
    <p:extLst>
      <p:ext uri="{BB962C8B-B14F-4D97-AF65-F5344CB8AC3E}">
        <p14:creationId xmlns:p14="http://schemas.microsoft.com/office/powerpoint/2010/main" val="4085235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A2882-8D30-D9BA-0181-BD4E688DC9D6}"/>
              </a:ext>
            </a:extLst>
          </p:cNvPr>
          <p:cNvSpPr>
            <a:spLocks noGrp="1"/>
          </p:cNvSpPr>
          <p:nvPr>
            <p:ph type="title"/>
          </p:nvPr>
        </p:nvSpPr>
        <p:spPr/>
        <p:txBody>
          <a:bodyPr/>
          <a:lstStyle/>
          <a:p>
            <a:r>
              <a:rPr lang="en-US" dirty="0"/>
              <a:t>Activity 1: Visualizations</a:t>
            </a:r>
          </a:p>
        </p:txBody>
      </p:sp>
      <p:sp>
        <p:nvSpPr>
          <p:cNvPr id="3" name="Content Placeholder 2">
            <a:extLst>
              <a:ext uri="{FF2B5EF4-FFF2-40B4-BE49-F238E27FC236}">
                <a16:creationId xmlns:a16="http://schemas.microsoft.com/office/drawing/2014/main" id="{77E07A0C-13FD-2C93-FEF5-43D6E8AA47CA}"/>
              </a:ext>
            </a:extLst>
          </p:cNvPr>
          <p:cNvSpPr>
            <a:spLocks noGrp="1"/>
          </p:cNvSpPr>
          <p:nvPr>
            <p:ph idx="1"/>
          </p:nvPr>
        </p:nvSpPr>
        <p:spPr>
          <a:xfrm>
            <a:off x="996043" y="2334985"/>
            <a:ext cx="9650186" cy="4261758"/>
          </a:xfrm>
        </p:spPr>
        <p:txBody>
          <a:bodyPr>
            <a:normAutofit fontScale="85000" lnSpcReduction="10000"/>
          </a:bodyPr>
          <a:lstStyle/>
          <a:p>
            <a:r>
              <a:rPr lang="en-US" b="1" dirty="0"/>
              <a:t>Data Visualization</a:t>
            </a:r>
            <a:endParaRPr lang="en-US" dirty="0"/>
          </a:p>
          <a:p>
            <a:r>
              <a:rPr lang="en-US" dirty="0"/>
              <a:t>Bar and column charts </a:t>
            </a:r>
          </a:p>
          <a:p>
            <a:r>
              <a:rPr lang="en-US" dirty="0"/>
              <a:t>Pie charts</a:t>
            </a:r>
          </a:p>
          <a:p>
            <a:r>
              <a:rPr lang="en-US" dirty="0"/>
              <a:t>Boxplots  </a:t>
            </a:r>
          </a:p>
          <a:p>
            <a:r>
              <a:rPr lang="en-US" dirty="0"/>
              <a:t>Scatter : Strong positive relationship between delay and invoice value, High-value invoices are more likely to be overdue, Financial risk is concentrated in a small number of cases, Days overdue is a critical predictive feature</a:t>
            </a:r>
          </a:p>
          <a:p>
            <a:r>
              <a:rPr lang="en-US" dirty="0"/>
              <a:t>and violin plots:  Similar value distributions across payment methods, Most invoices are low to medium value, High-value invoices exist for both cash and credit, Credit payments show slightly higher variability</a:t>
            </a:r>
          </a:p>
          <a:p>
            <a:r>
              <a:rPr lang="en-US" dirty="0"/>
              <a:t> and bubble charts:</a:t>
            </a:r>
            <a:r>
              <a:rPr lang="en-US" b="1" dirty="0"/>
              <a:t> </a:t>
            </a:r>
            <a:r>
              <a:rPr lang="en-US" dirty="0"/>
              <a:t>Tax amount strongly correlates with expected payment amount, Discounts are concentrated on high-value invoices, Larger invoices receive larger discounts, Low-value invoices show minimal discount impact</a:t>
            </a:r>
          </a:p>
          <a:p>
            <a:r>
              <a:rPr lang="en-US" dirty="0"/>
              <a:t>Line chart : Daily expected payment amounts are highly volatile, High-value days occur regularly, No clear long-term trend at daily granularity, Data is stable across years</a:t>
            </a:r>
          </a:p>
          <a:p>
            <a:r>
              <a:rPr lang="en-US" dirty="0"/>
              <a:t>and area charts </a:t>
            </a:r>
            <a:r>
              <a:rPr lang="en-US" b="1" dirty="0"/>
              <a:t>: </a:t>
            </a:r>
            <a:r>
              <a:rPr lang="en-US" dirty="0"/>
              <a:t>Monthly revenue is stable over time, Aggregation reduces volatility, No strong seasonal patterns detected</a:t>
            </a:r>
          </a:p>
          <a:p>
            <a:endParaRPr lang="en-US" dirty="0"/>
          </a:p>
        </p:txBody>
      </p:sp>
    </p:spTree>
    <p:extLst>
      <p:ext uri="{BB962C8B-B14F-4D97-AF65-F5344CB8AC3E}">
        <p14:creationId xmlns:p14="http://schemas.microsoft.com/office/powerpoint/2010/main" val="1034969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3A72A-824E-72F9-6B02-99802137B7A8}"/>
              </a:ext>
            </a:extLst>
          </p:cNvPr>
          <p:cNvSpPr>
            <a:spLocks noGrp="1"/>
          </p:cNvSpPr>
          <p:nvPr>
            <p:ph type="title"/>
          </p:nvPr>
        </p:nvSpPr>
        <p:spPr>
          <a:xfrm>
            <a:off x="656947" y="343255"/>
            <a:ext cx="10386874" cy="1188720"/>
          </a:xfrm>
        </p:spPr>
        <p:txBody>
          <a:bodyPr>
            <a:normAutofit/>
          </a:bodyPr>
          <a:lstStyle/>
          <a:p>
            <a:r>
              <a:rPr lang="en-US" dirty="0"/>
              <a:t>Evaluating the Importance of Data Analytical Techniques in Decision-Making</a:t>
            </a:r>
          </a:p>
        </p:txBody>
      </p:sp>
      <p:sp>
        <p:nvSpPr>
          <p:cNvPr id="10" name="TextBox 9">
            <a:extLst>
              <a:ext uri="{FF2B5EF4-FFF2-40B4-BE49-F238E27FC236}">
                <a16:creationId xmlns:a16="http://schemas.microsoft.com/office/drawing/2014/main" id="{3E38D7A7-CAD0-A67D-C7DE-9D584624541D}"/>
              </a:ext>
            </a:extLst>
          </p:cNvPr>
          <p:cNvSpPr txBox="1"/>
          <p:nvPr/>
        </p:nvSpPr>
        <p:spPr>
          <a:xfrm>
            <a:off x="798990" y="1784412"/>
            <a:ext cx="10120544" cy="923330"/>
          </a:xfrm>
          <a:prstGeom prst="rect">
            <a:avLst/>
          </a:prstGeom>
          <a:noFill/>
        </p:spPr>
        <p:txBody>
          <a:bodyPr wrap="square">
            <a:spAutoFit/>
          </a:bodyPr>
          <a:lstStyle/>
          <a:p>
            <a:r>
              <a:rPr lang="en-US" dirty="0"/>
              <a:t>Data analytical techniques play a critical role in transforming raw transactional data into actionable insights that guide organizational decision-making. In this project, descriptive, predictive, forecasting, and prescriptive analytics were applied to support evidence-based decisions within invoice processing operations.</a:t>
            </a:r>
          </a:p>
        </p:txBody>
      </p:sp>
      <p:sp>
        <p:nvSpPr>
          <p:cNvPr id="12" name="TextBox 11">
            <a:extLst>
              <a:ext uri="{FF2B5EF4-FFF2-40B4-BE49-F238E27FC236}">
                <a16:creationId xmlns:a16="http://schemas.microsoft.com/office/drawing/2014/main" id="{9F8023C5-A6D1-9F55-24F0-7D9EC19905F3}"/>
              </a:ext>
            </a:extLst>
          </p:cNvPr>
          <p:cNvSpPr txBox="1"/>
          <p:nvPr/>
        </p:nvSpPr>
        <p:spPr>
          <a:xfrm>
            <a:off x="798990" y="2843475"/>
            <a:ext cx="10120544" cy="923330"/>
          </a:xfrm>
          <a:prstGeom prst="rect">
            <a:avLst/>
          </a:prstGeom>
          <a:noFill/>
        </p:spPr>
        <p:txBody>
          <a:bodyPr wrap="square">
            <a:spAutoFit/>
          </a:bodyPr>
          <a:lstStyle/>
          <a:p>
            <a:r>
              <a:rPr lang="en-US" b="1" dirty="0"/>
              <a:t>Descriptive analytics</a:t>
            </a:r>
            <a:r>
              <a:rPr lang="en-US" dirty="0"/>
              <a:t> provided visibility into invoice distributions, payment behavior, and outliers, enabling managers to understand current performance and identify potential risks. Without this step, decisions would rely on assumptions rather than factual patterns.</a:t>
            </a:r>
          </a:p>
        </p:txBody>
      </p:sp>
      <p:sp>
        <p:nvSpPr>
          <p:cNvPr id="14" name="TextBox 13">
            <a:extLst>
              <a:ext uri="{FF2B5EF4-FFF2-40B4-BE49-F238E27FC236}">
                <a16:creationId xmlns:a16="http://schemas.microsoft.com/office/drawing/2014/main" id="{7645BCC9-DB3D-1D63-7834-7A5F3D783659}"/>
              </a:ext>
            </a:extLst>
          </p:cNvPr>
          <p:cNvSpPr txBox="1"/>
          <p:nvPr/>
        </p:nvSpPr>
        <p:spPr>
          <a:xfrm>
            <a:off x="798989" y="3766805"/>
            <a:ext cx="10386873" cy="923330"/>
          </a:xfrm>
          <a:prstGeom prst="rect">
            <a:avLst/>
          </a:prstGeom>
          <a:noFill/>
        </p:spPr>
        <p:txBody>
          <a:bodyPr wrap="square">
            <a:spAutoFit/>
          </a:bodyPr>
          <a:lstStyle/>
          <a:p>
            <a:r>
              <a:rPr lang="en-US" b="1" dirty="0"/>
              <a:t>Predictive analytics</a:t>
            </a:r>
            <a:r>
              <a:rPr lang="en-US" dirty="0"/>
              <a:t> enabled accurate estimation of expected payment amounts by learning relationships between invoice attributes. By comparing multiple models, decision-makers can select forecasting approaches that balance accuracy and interpretability, improving financial planning and risk management.</a:t>
            </a:r>
          </a:p>
        </p:txBody>
      </p:sp>
      <p:sp>
        <p:nvSpPr>
          <p:cNvPr id="16" name="TextBox 15">
            <a:extLst>
              <a:ext uri="{FF2B5EF4-FFF2-40B4-BE49-F238E27FC236}">
                <a16:creationId xmlns:a16="http://schemas.microsoft.com/office/drawing/2014/main" id="{68773A22-3B6B-5331-3B7C-27A74845A934}"/>
              </a:ext>
            </a:extLst>
          </p:cNvPr>
          <p:cNvSpPr txBox="1"/>
          <p:nvPr/>
        </p:nvSpPr>
        <p:spPr>
          <a:xfrm>
            <a:off x="736847" y="4804031"/>
            <a:ext cx="10182687" cy="1200329"/>
          </a:xfrm>
          <a:prstGeom prst="rect">
            <a:avLst/>
          </a:prstGeom>
          <a:noFill/>
        </p:spPr>
        <p:txBody>
          <a:bodyPr wrap="square">
            <a:spAutoFit/>
          </a:bodyPr>
          <a:lstStyle/>
          <a:p>
            <a:r>
              <a:rPr lang="en-US" b="1" dirty="0"/>
              <a:t>Prescriptive analytics</a:t>
            </a:r>
            <a:r>
              <a:rPr lang="en-US" dirty="0"/>
              <a:t> moved beyond prediction to determine the optimal course of action. Linear Programming and Genetic Algorithms identified the most cost-efficient allocation of invoices across processing centers while satisfying operational constraints. This directly guides operational decisions and resource allocation.</a:t>
            </a:r>
          </a:p>
        </p:txBody>
      </p:sp>
    </p:spTree>
    <p:extLst>
      <p:ext uri="{BB962C8B-B14F-4D97-AF65-F5344CB8AC3E}">
        <p14:creationId xmlns:p14="http://schemas.microsoft.com/office/powerpoint/2010/main" val="1081207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1C09E-4AF7-AE50-8CD7-101EEA775183}"/>
              </a:ext>
            </a:extLst>
          </p:cNvPr>
          <p:cNvSpPr>
            <a:spLocks noGrp="1"/>
          </p:cNvSpPr>
          <p:nvPr>
            <p:ph type="title"/>
          </p:nvPr>
        </p:nvSpPr>
        <p:spPr/>
        <p:txBody>
          <a:bodyPr/>
          <a:lstStyle/>
          <a:p>
            <a:r>
              <a:rPr lang="en-US" dirty="0"/>
              <a:t>Activity 2 – Predictive Analytics Overview</a:t>
            </a:r>
          </a:p>
        </p:txBody>
      </p:sp>
      <p:sp>
        <p:nvSpPr>
          <p:cNvPr id="4" name="Rectangle 1">
            <a:extLst>
              <a:ext uri="{FF2B5EF4-FFF2-40B4-BE49-F238E27FC236}">
                <a16:creationId xmlns:a16="http://schemas.microsoft.com/office/drawing/2014/main" id="{8B4BCA0C-2138-AA5C-BD6A-74644065968B}"/>
              </a:ext>
            </a:extLst>
          </p:cNvPr>
          <p:cNvSpPr>
            <a:spLocks noGrp="1" noChangeArrowheads="1"/>
          </p:cNvSpPr>
          <p:nvPr>
            <p:ph idx="1"/>
          </p:nvPr>
        </p:nvSpPr>
        <p:spPr bwMode="auto">
          <a:xfrm>
            <a:off x="1605744" y="2378069"/>
            <a:ext cx="10072053" cy="5103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dirty="0">
                <a:latin typeface="Arial" panose="020B0604020202020204" pitchFamily="34" charset="0"/>
                <a:cs typeface="Arial" panose="020B0604020202020204" pitchFamily="34" charset="0"/>
              </a:rPr>
              <a:t>Techniques applied: Feature selection, Statistical modeling ,Machine learning, Deep learning</a:t>
            </a:r>
          </a:p>
          <a:p>
            <a:r>
              <a:rPr lang="en-US" altLang="en-US" dirty="0">
                <a:solidFill>
                  <a:schemeClr val="tx1"/>
                </a:solidFill>
                <a:latin typeface="Arial" panose="020B0604020202020204" pitchFamily="34" charset="0"/>
              </a:rPr>
              <a:t>Target variable: </a:t>
            </a:r>
            <a:r>
              <a:rPr lang="en-US" altLang="en-US" b="1" dirty="0">
                <a:solidFill>
                  <a:schemeClr val="tx1"/>
                </a:solidFill>
                <a:latin typeface="Arial" panose="020B0604020202020204" pitchFamily="34" charset="0"/>
              </a:rPr>
              <a:t>Expected Payment Amount</a:t>
            </a:r>
            <a:endParaRPr lang="en-US" altLang="en-US" dirty="0">
              <a:solidFill>
                <a:schemeClr val="tx1"/>
              </a:solidFill>
              <a:latin typeface="Arial" panose="020B0604020202020204" pitchFamily="34" charset="0"/>
            </a:endParaRPr>
          </a:p>
          <a:p>
            <a:r>
              <a:rPr lang="en-US" altLang="en-US" dirty="0">
                <a:solidFill>
                  <a:schemeClr val="tx1"/>
                </a:solidFill>
                <a:latin typeface="Arial" panose="020B0604020202020204" pitchFamily="34" charset="0"/>
              </a:rPr>
              <a:t>Data preprocessing: Encoding categorical variables, Scaling numerical features, Train/test split</a:t>
            </a:r>
          </a:p>
          <a:p>
            <a:r>
              <a:rPr lang="en-US" b="1" dirty="0"/>
              <a:t>importance of data analytical techniques </a:t>
            </a:r>
          </a:p>
          <a:p>
            <a:r>
              <a:rPr lang="en-US" dirty="0"/>
              <a:t>Enables proactive financial planning</a:t>
            </a:r>
          </a:p>
          <a:p>
            <a:r>
              <a:rPr lang="en-US" dirty="0"/>
              <a:t>Identifies high-risk and high-value invoices</a:t>
            </a:r>
          </a:p>
          <a:p>
            <a:r>
              <a:rPr lang="en-US" dirty="0"/>
              <a:t>Supports credit risk management</a:t>
            </a:r>
          </a:p>
          <a:p>
            <a:r>
              <a:rPr lang="en-US" dirty="0"/>
              <a:t>Reduces uncertainty in revenue forecasting</a:t>
            </a:r>
          </a:p>
          <a:p>
            <a:pPr marL="0" indent="0">
              <a:buNone/>
            </a:pPr>
            <a:endParaRPr lang="en-US" altLang="en-US" dirty="0">
              <a:solidFill>
                <a:schemeClr val="tx1"/>
              </a:solidFill>
              <a:latin typeface="Arial" panose="020B0604020202020204" pitchFamily="34" charset="0"/>
            </a:endParaRPr>
          </a:p>
          <a:p>
            <a:endParaRPr lang="en-US" altLang="en-US" dirty="0">
              <a:solidFill>
                <a:schemeClr val="tx1"/>
              </a:solidFill>
              <a:latin typeface="Arial" panose="020B0604020202020204" pitchFamily="34" charset="0"/>
            </a:endParaRPr>
          </a:p>
          <a:p>
            <a:endParaRPr lang="en-US" altLang="en-US" dirty="0">
              <a:solidFill>
                <a:schemeClr val="tx1"/>
              </a:solidFill>
              <a:latin typeface="Arial" panose="020B0604020202020204" pitchFamily="34" charset="0"/>
            </a:endParaRPr>
          </a:p>
          <a:p>
            <a:endParaRPr 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0207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DA0ED-6564-BF19-3E61-13253296FAC3}"/>
              </a:ext>
            </a:extLst>
          </p:cNvPr>
          <p:cNvSpPr>
            <a:spLocks noGrp="1"/>
          </p:cNvSpPr>
          <p:nvPr>
            <p:ph type="title"/>
          </p:nvPr>
        </p:nvSpPr>
        <p:spPr/>
        <p:txBody>
          <a:bodyPr/>
          <a:lstStyle/>
          <a:p>
            <a:r>
              <a:rPr lang="en-US" dirty="0"/>
              <a:t>Feature Selection and Its Value</a:t>
            </a:r>
          </a:p>
        </p:txBody>
      </p:sp>
      <p:sp>
        <p:nvSpPr>
          <p:cNvPr id="3" name="Content Placeholder 2">
            <a:extLst>
              <a:ext uri="{FF2B5EF4-FFF2-40B4-BE49-F238E27FC236}">
                <a16:creationId xmlns:a16="http://schemas.microsoft.com/office/drawing/2014/main" id="{09A448EE-52ED-0142-9E94-11809FA4D2B8}"/>
              </a:ext>
            </a:extLst>
          </p:cNvPr>
          <p:cNvSpPr>
            <a:spLocks noGrp="1"/>
          </p:cNvSpPr>
          <p:nvPr>
            <p:ph idx="1"/>
          </p:nvPr>
        </p:nvSpPr>
        <p:spPr>
          <a:xfrm>
            <a:off x="506186" y="2318658"/>
            <a:ext cx="10972800" cy="4278086"/>
          </a:xfrm>
        </p:spPr>
        <p:txBody>
          <a:bodyPr>
            <a:normAutofit fontScale="92500" lnSpcReduction="10000"/>
          </a:bodyPr>
          <a:lstStyle/>
          <a:p>
            <a:pPr marL="0" indent="0">
              <a:buNone/>
            </a:pPr>
            <a:endParaRPr lang="en-US" dirty="0"/>
          </a:p>
          <a:p>
            <a:r>
              <a:rPr lang="en-US" dirty="0"/>
              <a:t>Feature selection reduces dimensionality</a:t>
            </a:r>
          </a:p>
          <a:p>
            <a:r>
              <a:rPr lang="en-US" dirty="0"/>
              <a:t>Improves model interpretability</a:t>
            </a:r>
          </a:p>
          <a:p>
            <a:r>
              <a:rPr lang="en-US" dirty="0"/>
              <a:t>Prevents overfitting</a:t>
            </a:r>
          </a:p>
          <a:p>
            <a:r>
              <a:rPr lang="en-US" dirty="0"/>
              <a:t>Enhances prediction accuracy</a:t>
            </a:r>
          </a:p>
          <a:p>
            <a:r>
              <a:rPr lang="en-US" dirty="0" err="1"/>
              <a:t>SelectKBest</a:t>
            </a:r>
            <a:r>
              <a:rPr lang="en-US" dirty="0"/>
              <a:t> achieved its highest performance when a larger number of features was retained (R² ≈ 0.957 with k = 12), indicating that additional features contribute useful information to the prediction task. However, this approach increased model complexity and reduced interpretability, as many features were included without considering their combined influence.</a:t>
            </a:r>
          </a:p>
          <a:p>
            <a:r>
              <a:rPr lang="en-US" dirty="0"/>
              <a:t>In contrast, </a:t>
            </a:r>
            <a:r>
              <a:rPr lang="en-US" dirty="0" err="1"/>
              <a:t>SelectFromModel</a:t>
            </a:r>
            <a:r>
              <a:rPr lang="en-US" dirty="0"/>
              <a:t> achieved nearly equivalent performance (R² ≈ 0.954) using only three features. This method evaluates features in a multivariate context and selects those that contribute most significantly to the model’s predictive power. By retaining fewer but more informative features, </a:t>
            </a:r>
            <a:r>
              <a:rPr lang="en-US" dirty="0" err="1"/>
              <a:t>SelectFromModel</a:t>
            </a:r>
            <a:r>
              <a:rPr lang="en-US" dirty="0"/>
              <a:t> provided a more efficient and interpretable model with minimal loss in accuracy</a:t>
            </a:r>
          </a:p>
          <a:p>
            <a:r>
              <a:rPr lang="en-US" dirty="0"/>
              <a:t>Feature selection significantly impacts linear model performance.</a:t>
            </a:r>
          </a:p>
          <a:p>
            <a:pPr marL="0" indent="0">
              <a:buNone/>
            </a:pPr>
            <a:endParaRPr lang="en-US" dirty="0"/>
          </a:p>
        </p:txBody>
      </p:sp>
    </p:spTree>
    <p:extLst>
      <p:ext uri="{BB962C8B-B14F-4D97-AF65-F5344CB8AC3E}">
        <p14:creationId xmlns:p14="http://schemas.microsoft.com/office/powerpoint/2010/main" val="2864060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98363-9BC8-3A1E-B9FD-0D4FD68191E8}"/>
              </a:ext>
            </a:extLst>
          </p:cNvPr>
          <p:cNvSpPr>
            <a:spLocks noGrp="1"/>
          </p:cNvSpPr>
          <p:nvPr>
            <p:ph type="title"/>
          </p:nvPr>
        </p:nvSpPr>
        <p:spPr/>
        <p:txBody>
          <a:bodyPr/>
          <a:lstStyle/>
          <a:p>
            <a:r>
              <a:rPr lang="en-US" dirty="0"/>
              <a:t>Predictive Model Performance Comparison</a:t>
            </a:r>
          </a:p>
        </p:txBody>
      </p:sp>
      <p:graphicFrame>
        <p:nvGraphicFramePr>
          <p:cNvPr id="4" name="Content Placeholder 3">
            <a:extLst>
              <a:ext uri="{FF2B5EF4-FFF2-40B4-BE49-F238E27FC236}">
                <a16:creationId xmlns:a16="http://schemas.microsoft.com/office/drawing/2014/main" id="{42E2643A-02D0-DB59-9A11-01C0836834DC}"/>
              </a:ext>
            </a:extLst>
          </p:cNvPr>
          <p:cNvGraphicFramePr>
            <a:graphicFrameLocks noGrp="1"/>
          </p:cNvGraphicFramePr>
          <p:nvPr>
            <p:ph idx="1"/>
            <p:extLst>
              <p:ext uri="{D42A27DB-BD31-4B8C-83A1-F6EECF244321}">
                <p14:modId xmlns:p14="http://schemas.microsoft.com/office/powerpoint/2010/main" val="2425267277"/>
              </p:ext>
            </p:extLst>
          </p:nvPr>
        </p:nvGraphicFramePr>
        <p:xfrm>
          <a:off x="1118586" y="2318657"/>
          <a:ext cx="9414811" cy="4159761"/>
        </p:xfrm>
        <a:graphic>
          <a:graphicData uri="http://schemas.openxmlformats.org/drawingml/2006/table">
            <a:tbl>
              <a:tblPr/>
              <a:tblGrid>
                <a:gridCol w="1908699">
                  <a:extLst>
                    <a:ext uri="{9D8B030D-6E8A-4147-A177-3AD203B41FA5}">
                      <a16:colId xmlns:a16="http://schemas.microsoft.com/office/drawing/2014/main" val="2032190255"/>
                    </a:ext>
                  </a:extLst>
                </a:gridCol>
                <a:gridCol w="1806703">
                  <a:extLst>
                    <a:ext uri="{9D8B030D-6E8A-4147-A177-3AD203B41FA5}">
                      <a16:colId xmlns:a16="http://schemas.microsoft.com/office/drawing/2014/main" val="2922371488"/>
                    </a:ext>
                  </a:extLst>
                </a:gridCol>
                <a:gridCol w="1899803">
                  <a:extLst>
                    <a:ext uri="{9D8B030D-6E8A-4147-A177-3AD203B41FA5}">
                      <a16:colId xmlns:a16="http://schemas.microsoft.com/office/drawing/2014/main" val="3097839176"/>
                    </a:ext>
                  </a:extLst>
                </a:gridCol>
                <a:gridCol w="1899803">
                  <a:extLst>
                    <a:ext uri="{9D8B030D-6E8A-4147-A177-3AD203B41FA5}">
                      <a16:colId xmlns:a16="http://schemas.microsoft.com/office/drawing/2014/main" val="1240950547"/>
                    </a:ext>
                  </a:extLst>
                </a:gridCol>
                <a:gridCol w="1899803">
                  <a:extLst>
                    <a:ext uri="{9D8B030D-6E8A-4147-A177-3AD203B41FA5}">
                      <a16:colId xmlns:a16="http://schemas.microsoft.com/office/drawing/2014/main" val="2937187116"/>
                    </a:ext>
                  </a:extLst>
                </a:gridCol>
              </a:tblGrid>
              <a:tr h="597693">
                <a:tc>
                  <a:txBody>
                    <a:bodyPr/>
                    <a:lstStyle/>
                    <a:p>
                      <a:pPr>
                        <a:buNone/>
                      </a:pPr>
                      <a:r>
                        <a:rPr lang="en-US" sz="1300" dirty="0">
                          <a:solidFill>
                            <a:schemeClr val="tx1"/>
                          </a:solidFill>
                          <a:highlight>
                            <a:srgbClr val="FFFF00"/>
                          </a:highlight>
                        </a:rPr>
                        <a:t>Model</a:t>
                      </a:r>
                    </a:p>
                  </a:txBody>
                  <a:tcPr marL="64624" marR="64624" marT="32312" marB="32312" anchor="ctr">
                    <a:lnL>
                      <a:noFill/>
                    </a:lnL>
                    <a:lnR>
                      <a:noFill/>
                    </a:lnR>
                    <a:lnT>
                      <a:noFill/>
                    </a:lnT>
                    <a:lnB>
                      <a:noFill/>
                    </a:lnB>
                    <a:noFill/>
                  </a:tcPr>
                </a:tc>
                <a:tc>
                  <a:txBody>
                    <a:bodyPr/>
                    <a:lstStyle/>
                    <a:p>
                      <a:pPr>
                        <a:buNone/>
                      </a:pPr>
                      <a:r>
                        <a:rPr lang="en-US" sz="1300" dirty="0">
                          <a:highlight>
                            <a:srgbClr val="FFFF00"/>
                          </a:highlight>
                        </a:rPr>
                        <a:t>Feature Selection</a:t>
                      </a:r>
                    </a:p>
                  </a:txBody>
                  <a:tcPr marL="64624" marR="64624" marT="32312" marB="32312" anchor="ctr">
                    <a:lnL>
                      <a:noFill/>
                    </a:lnL>
                    <a:lnR>
                      <a:noFill/>
                    </a:lnR>
                    <a:lnT>
                      <a:noFill/>
                    </a:lnT>
                    <a:lnB>
                      <a:noFill/>
                    </a:lnB>
                    <a:noFill/>
                  </a:tcPr>
                </a:tc>
                <a:tc>
                  <a:txBody>
                    <a:bodyPr/>
                    <a:lstStyle/>
                    <a:p>
                      <a:pPr>
                        <a:buNone/>
                      </a:pPr>
                      <a:r>
                        <a:rPr lang="en-US" sz="1300" dirty="0">
                          <a:highlight>
                            <a:srgbClr val="FFFF00"/>
                          </a:highlight>
                        </a:rPr>
                        <a:t>MAE</a:t>
                      </a:r>
                    </a:p>
                  </a:txBody>
                  <a:tcPr marL="64624" marR="64624" marT="32312" marB="32312" anchor="ctr">
                    <a:lnL>
                      <a:noFill/>
                    </a:lnL>
                    <a:lnR>
                      <a:noFill/>
                    </a:lnR>
                    <a:lnT>
                      <a:noFill/>
                    </a:lnT>
                    <a:lnB>
                      <a:noFill/>
                    </a:lnB>
                    <a:noFill/>
                  </a:tcPr>
                </a:tc>
                <a:tc>
                  <a:txBody>
                    <a:bodyPr/>
                    <a:lstStyle/>
                    <a:p>
                      <a:pPr>
                        <a:buNone/>
                      </a:pPr>
                      <a:r>
                        <a:rPr lang="en-US" sz="1300" dirty="0">
                          <a:highlight>
                            <a:srgbClr val="FFFF00"/>
                          </a:highlight>
                        </a:rPr>
                        <a:t>RMSE</a:t>
                      </a:r>
                    </a:p>
                  </a:txBody>
                  <a:tcPr marL="64624" marR="64624" marT="32312" marB="32312" anchor="ctr">
                    <a:lnL>
                      <a:noFill/>
                    </a:lnL>
                    <a:lnR>
                      <a:noFill/>
                    </a:lnR>
                    <a:lnT>
                      <a:noFill/>
                    </a:lnT>
                    <a:lnB>
                      <a:noFill/>
                    </a:lnB>
                    <a:noFill/>
                  </a:tcPr>
                </a:tc>
                <a:tc>
                  <a:txBody>
                    <a:bodyPr/>
                    <a:lstStyle/>
                    <a:p>
                      <a:pPr>
                        <a:buNone/>
                      </a:pPr>
                      <a:r>
                        <a:rPr lang="en-US" sz="1300" dirty="0">
                          <a:highlight>
                            <a:srgbClr val="FFFF00"/>
                          </a:highlight>
                        </a:rPr>
                        <a:t>R²</a:t>
                      </a:r>
                    </a:p>
                  </a:txBody>
                  <a:tcPr marL="64624" marR="64624" marT="32312" marB="32312" anchor="ctr">
                    <a:lnL>
                      <a:noFill/>
                    </a:lnL>
                    <a:lnR>
                      <a:noFill/>
                    </a:lnR>
                    <a:lnT>
                      <a:noFill/>
                    </a:lnT>
                    <a:lnB>
                      <a:noFill/>
                    </a:lnB>
                    <a:noFill/>
                  </a:tcPr>
                </a:tc>
                <a:extLst>
                  <a:ext uri="{0D108BD9-81ED-4DB2-BD59-A6C34878D82A}">
                    <a16:rowId xmlns:a16="http://schemas.microsoft.com/office/drawing/2014/main" val="2345806694"/>
                  </a:ext>
                </a:extLst>
              </a:tr>
              <a:tr h="597693">
                <a:tc>
                  <a:txBody>
                    <a:bodyPr/>
                    <a:lstStyle/>
                    <a:p>
                      <a:pPr>
                        <a:buNone/>
                      </a:pPr>
                      <a:r>
                        <a:rPr lang="en-US" sz="1300" dirty="0">
                          <a:highlight>
                            <a:srgbClr val="FFFF00"/>
                          </a:highlight>
                        </a:rPr>
                        <a:t>Linear Regression</a:t>
                      </a:r>
                    </a:p>
                  </a:txBody>
                  <a:tcPr marL="64624" marR="64624" marT="32312" marB="32312" anchor="ctr">
                    <a:lnL>
                      <a:noFill/>
                    </a:lnL>
                    <a:lnR>
                      <a:noFill/>
                    </a:lnR>
                    <a:lnT>
                      <a:noFill/>
                    </a:lnT>
                    <a:lnB>
                      <a:noFill/>
                    </a:lnB>
                    <a:noFill/>
                  </a:tcPr>
                </a:tc>
                <a:tc>
                  <a:txBody>
                    <a:bodyPr/>
                    <a:lstStyle/>
                    <a:p>
                      <a:pPr>
                        <a:buNone/>
                      </a:pPr>
                      <a:r>
                        <a:rPr lang="en-US" sz="1300" dirty="0" err="1"/>
                        <a:t>SelectKBest</a:t>
                      </a:r>
                      <a:r>
                        <a:rPr lang="en-US" sz="1300" dirty="0"/>
                        <a:t> (k = 3)</a:t>
                      </a:r>
                    </a:p>
                  </a:txBody>
                  <a:tcPr marL="64624" marR="64624" marT="32312" marB="32312" anchor="ctr">
                    <a:lnL>
                      <a:noFill/>
                    </a:lnL>
                    <a:lnR>
                      <a:noFill/>
                    </a:lnR>
                    <a:lnT>
                      <a:noFill/>
                    </a:lnT>
                    <a:lnB>
                      <a:noFill/>
                    </a:lnB>
                    <a:noFill/>
                  </a:tcPr>
                </a:tc>
                <a:tc>
                  <a:txBody>
                    <a:bodyPr/>
                    <a:lstStyle/>
                    <a:p>
                      <a:pPr>
                        <a:buNone/>
                      </a:pPr>
                      <a:r>
                        <a:rPr lang="en-US" sz="1300"/>
                        <a:t>776.78</a:t>
                      </a:r>
                    </a:p>
                  </a:txBody>
                  <a:tcPr marL="64624" marR="64624" marT="32312" marB="32312" anchor="ctr">
                    <a:lnL>
                      <a:noFill/>
                    </a:lnL>
                    <a:lnR>
                      <a:noFill/>
                    </a:lnR>
                    <a:lnT>
                      <a:noFill/>
                    </a:lnT>
                    <a:lnB>
                      <a:noFill/>
                    </a:lnB>
                    <a:noFill/>
                  </a:tcPr>
                </a:tc>
                <a:tc>
                  <a:txBody>
                    <a:bodyPr/>
                    <a:lstStyle/>
                    <a:p>
                      <a:pPr>
                        <a:buNone/>
                      </a:pPr>
                      <a:r>
                        <a:rPr lang="en-US" sz="1300"/>
                        <a:t>1052.96</a:t>
                      </a:r>
                    </a:p>
                  </a:txBody>
                  <a:tcPr marL="64624" marR="64624" marT="32312" marB="32312" anchor="ctr">
                    <a:lnL>
                      <a:noFill/>
                    </a:lnL>
                    <a:lnR>
                      <a:noFill/>
                    </a:lnR>
                    <a:lnT>
                      <a:noFill/>
                    </a:lnT>
                    <a:lnB>
                      <a:noFill/>
                    </a:lnB>
                    <a:noFill/>
                  </a:tcPr>
                </a:tc>
                <a:tc>
                  <a:txBody>
                    <a:bodyPr/>
                    <a:lstStyle/>
                    <a:p>
                      <a:pPr>
                        <a:buNone/>
                      </a:pPr>
                      <a:r>
                        <a:rPr lang="en-US" sz="1300"/>
                        <a:t>0.868</a:t>
                      </a:r>
                    </a:p>
                  </a:txBody>
                  <a:tcPr marL="64624" marR="64624" marT="32312" marB="32312" anchor="ctr">
                    <a:lnL>
                      <a:noFill/>
                    </a:lnL>
                    <a:lnR>
                      <a:noFill/>
                    </a:lnR>
                    <a:lnT>
                      <a:noFill/>
                    </a:lnT>
                    <a:lnB>
                      <a:noFill/>
                    </a:lnB>
                    <a:noFill/>
                  </a:tcPr>
                </a:tc>
                <a:extLst>
                  <a:ext uri="{0D108BD9-81ED-4DB2-BD59-A6C34878D82A}">
                    <a16:rowId xmlns:a16="http://schemas.microsoft.com/office/drawing/2014/main" val="1578091671"/>
                  </a:ext>
                </a:extLst>
              </a:tr>
              <a:tr h="853849">
                <a:tc>
                  <a:txBody>
                    <a:bodyPr/>
                    <a:lstStyle/>
                    <a:p>
                      <a:pPr>
                        <a:buNone/>
                      </a:pPr>
                      <a:r>
                        <a:rPr lang="en-US" sz="1300" dirty="0">
                          <a:highlight>
                            <a:srgbClr val="FFFF00"/>
                          </a:highlight>
                        </a:rPr>
                        <a:t>Linear Regression</a:t>
                      </a:r>
                    </a:p>
                  </a:txBody>
                  <a:tcPr marL="64624" marR="64624" marT="32312" marB="32312" anchor="ctr">
                    <a:lnL>
                      <a:noFill/>
                    </a:lnL>
                    <a:lnR>
                      <a:noFill/>
                    </a:lnR>
                    <a:lnT>
                      <a:noFill/>
                    </a:lnT>
                    <a:lnB>
                      <a:noFill/>
                    </a:lnB>
                    <a:noFill/>
                  </a:tcPr>
                </a:tc>
                <a:tc>
                  <a:txBody>
                    <a:bodyPr/>
                    <a:lstStyle/>
                    <a:p>
                      <a:pPr>
                        <a:buNone/>
                      </a:pPr>
                      <a:r>
                        <a:rPr lang="en-US" sz="1300" dirty="0" err="1"/>
                        <a:t>SelectFromModel</a:t>
                      </a:r>
                      <a:r>
                        <a:rPr lang="en-US" sz="1300" dirty="0"/>
                        <a:t> (3 features)</a:t>
                      </a:r>
                    </a:p>
                  </a:txBody>
                  <a:tcPr marL="64624" marR="64624" marT="32312" marB="32312" anchor="ctr">
                    <a:lnL>
                      <a:noFill/>
                    </a:lnL>
                    <a:lnR>
                      <a:noFill/>
                    </a:lnR>
                    <a:lnT>
                      <a:noFill/>
                    </a:lnT>
                    <a:lnB>
                      <a:noFill/>
                    </a:lnB>
                    <a:noFill/>
                  </a:tcPr>
                </a:tc>
                <a:tc>
                  <a:txBody>
                    <a:bodyPr/>
                    <a:lstStyle/>
                    <a:p>
                      <a:pPr>
                        <a:buNone/>
                      </a:pPr>
                      <a:r>
                        <a:rPr lang="en-US" sz="1300"/>
                        <a:t>490.73</a:t>
                      </a:r>
                    </a:p>
                  </a:txBody>
                  <a:tcPr marL="64624" marR="64624" marT="32312" marB="32312" anchor="ctr">
                    <a:lnL>
                      <a:noFill/>
                    </a:lnL>
                    <a:lnR>
                      <a:noFill/>
                    </a:lnR>
                    <a:lnT>
                      <a:noFill/>
                    </a:lnT>
                    <a:lnB>
                      <a:noFill/>
                    </a:lnB>
                    <a:noFill/>
                  </a:tcPr>
                </a:tc>
                <a:tc>
                  <a:txBody>
                    <a:bodyPr/>
                    <a:lstStyle/>
                    <a:p>
                      <a:pPr>
                        <a:buNone/>
                      </a:pPr>
                      <a:r>
                        <a:rPr lang="en-US" sz="1300"/>
                        <a:t>620.96</a:t>
                      </a:r>
                    </a:p>
                  </a:txBody>
                  <a:tcPr marL="64624" marR="64624" marT="32312" marB="32312" anchor="ctr">
                    <a:lnL>
                      <a:noFill/>
                    </a:lnL>
                    <a:lnR>
                      <a:noFill/>
                    </a:lnR>
                    <a:lnT>
                      <a:noFill/>
                    </a:lnT>
                    <a:lnB>
                      <a:noFill/>
                    </a:lnB>
                    <a:noFill/>
                  </a:tcPr>
                </a:tc>
                <a:tc>
                  <a:txBody>
                    <a:bodyPr/>
                    <a:lstStyle/>
                    <a:p>
                      <a:pPr>
                        <a:buNone/>
                      </a:pPr>
                      <a:r>
                        <a:rPr lang="en-US" sz="1300"/>
                        <a:t>0.954</a:t>
                      </a:r>
                    </a:p>
                  </a:txBody>
                  <a:tcPr marL="64624" marR="64624" marT="32312" marB="32312" anchor="ctr">
                    <a:lnL>
                      <a:noFill/>
                    </a:lnL>
                    <a:lnR>
                      <a:noFill/>
                    </a:lnR>
                    <a:lnT>
                      <a:noFill/>
                    </a:lnT>
                    <a:lnB>
                      <a:noFill/>
                    </a:lnB>
                    <a:noFill/>
                  </a:tcPr>
                </a:tc>
                <a:extLst>
                  <a:ext uri="{0D108BD9-81ED-4DB2-BD59-A6C34878D82A}">
                    <a16:rowId xmlns:a16="http://schemas.microsoft.com/office/drawing/2014/main" val="1637177773"/>
                  </a:ext>
                </a:extLst>
              </a:tr>
              <a:tr h="597693">
                <a:tc>
                  <a:txBody>
                    <a:bodyPr/>
                    <a:lstStyle/>
                    <a:p>
                      <a:pPr>
                        <a:buNone/>
                      </a:pPr>
                      <a:r>
                        <a:rPr lang="en-US" sz="1300" dirty="0">
                          <a:highlight>
                            <a:srgbClr val="FFFF00"/>
                          </a:highlight>
                        </a:rPr>
                        <a:t>Linear Regression</a:t>
                      </a:r>
                    </a:p>
                  </a:txBody>
                  <a:tcPr marL="64624" marR="64624" marT="32312" marB="32312" anchor="ctr">
                    <a:lnL>
                      <a:noFill/>
                    </a:lnL>
                    <a:lnR>
                      <a:noFill/>
                    </a:lnR>
                    <a:lnT>
                      <a:noFill/>
                    </a:lnT>
                    <a:lnB>
                      <a:noFill/>
                    </a:lnB>
                    <a:noFill/>
                  </a:tcPr>
                </a:tc>
                <a:tc>
                  <a:txBody>
                    <a:bodyPr/>
                    <a:lstStyle/>
                    <a:p>
                      <a:pPr>
                        <a:buNone/>
                      </a:pPr>
                      <a:r>
                        <a:rPr lang="en-US" sz="1300"/>
                        <a:t>SelectKBest (k = 12)</a:t>
                      </a:r>
                    </a:p>
                  </a:txBody>
                  <a:tcPr marL="64624" marR="64624" marT="32312" marB="32312" anchor="ctr">
                    <a:lnL>
                      <a:noFill/>
                    </a:lnL>
                    <a:lnR>
                      <a:noFill/>
                    </a:lnR>
                    <a:lnT>
                      <a:noFill/>
                    </a:lnT>
                    <a:lnB>
                      <a:noFill/>
                    </a:lnB>
                    <a:noFill/>
                  </a:tcPr>
                </a:tc>
                <a:tc>
                  <a:txBody>
                    <a:bodyPr/>
                    <a:lstStyle/>
                    <a:p>
                      <a:pPr>
                        <a:buNone/>
                      </a:pPr>
                      <a:r>
                        <a:rPr lang="en-US" sz="1300"/>
                        <a:t>468.89</a:t>
                      </a:r>
                    </a:p>
                  </a:txBody>
                  <a:tcPr marL="64624" marR="64624" marT="32312" marB="32312" anchor="ctr">
                    <a:lnL>
                      <a:noFill/>
                    </a:lnL>
                    <a:lnR>
                      <a:noFill/>
                    </a:lnR>
                    <a:lnT>
                      <a:noFill/>
                    </a:lnT>
                    <a:lnB>
                      <a:noFill/>
                    </a:lnB>
                    <a:noFill/>
                  </a:tcPr>
                </a:tc>
                <a:tc>
                  <a:txBody>
                    <a:bodyPr/>
                    <a:lstStyle/>
                    <a:p>
                      <a:pPr>
                        <a:buNone/>
                      </a:pPr>
                      <a:r>
                        <a:rPr lang="en-US" sz="1300"/>
                        <a:t>600.88</a:t>
                      </a:r>
                    </a:p>
                  </a:txBody>
                  <a:tcPr marL="64624" marR="64624" marT="32312" marB="32312" anchor="ctr">
                    <a:lnL>
                      <a:noFill/>
                    </a:lnL>
                    <a:lnR>
                      <a:noFill/>
                    </a:lnR>
                    <a:lnT>
                      <a:noFill/>
                    </a:lnT>
                    <a:lnB>
                      <a:noFill/>
                    </a:lnB>
                    <a:noFill/>
                  </a:tcPr>
                </a:tc>
                <a:tc>
                  <a:txBody>
                    <a:bodyPr/>
                    <a:lstStyle/>
                    <a:p>
                      <a:pPr>
                        <a:buNone/>
                      </a:pPr>
                      <a:r>
                        <a:rPr lang="en-US" sz="1300"/>
                        <a:t>0.957</a:t>
                      </a:r>
                    </a:p>
                  </a:txBody>
                  <a:tcPr marL="64624" marR="64624" marT="32312" marB="32312" anchor="ctr">
                    <a:lnL>
                      <a:noFill/>
                    </a:lnL>
                    <a:lnR>
                      <a:noFill/>
                    </a:lnR>
                    <a:lnT>
                      <a:noFill/>
                    </a:lnT>
                    <a:lnB>
                      <a:noFill/>
                    </a:lnB>
                    <a:noFill/>
                  </a:tcPr>
                </a:tc>
                <a:extLst>
                  <a:ext uri="{0D108BD9-81ED-4DB2-BD59-A6C34878D82A}">
                    <a16:rowId xmlns:a16="http://schemas.microsoft.com/office/drawing/2014/main" val="3317256084"/>
                  </a:ext>
                </a:extLst>
              </a:tr>
              <a:tr h="597693">
                <a:tc>
                  <a:txBody>
                    <a:bodyPr/>
                    <a:lstStyle/>
                    <a:p>
                      <a:pPr>
                        <a:buNone/>
                      </a:pPr>
                      <a:r>
                        <a:rPr lang="en-US" sz="1300" dirty="0">
                          <a:highlight>
                            <a:srgbClr val="FFFF00"/>
                          </a:highlight>
                        </a:rPr>
                        <a:t>Decision Tree Regressor</a:t>
                      </a:r>
                    </a:p>
                  </a:txBody>
                  <a:tcPr marL="64624" marR="64624" marT="32312" marB="32312"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err="1"/>
                        <a:t>SelectFromModel</a:t>
                      </a:r>
                      <a:r>
                        <a:rPr lang="en-US" sz="1300" dirty="0"/>
                        <a:t> (3 features)</a:t>
                      </a:r>
                    </a:p>
                    <a:p>
                      <a:pPr>
                        <a:buNone/>
                      </a:pPr>
                      <a:endParaRPr lang="en-US" sz="1300" dirty="0"/>
                    </a:p>
                  </a:txBody>
                  <a:tcPr marL="64624" marR="64624" marT="32312" marB="32312" anchor="ctr">
                    <a:lnL>
                      <a:noFill/>
                    </a:lnL>
                    <a:lnR>
                      <a:noFill/>
                    </a:lnR>
                    <a:lnT>
                      <a:noFill/>
                    </a:lnT>
                    <a:lnB>
                      <a:noFill/>
                    </a:lnB>
                    <a:noFill/>
                  </a:tcPr>
                </a:tc>
                <a:tc>
                  <a:txBody>
                    <a:bodyPr/>
                    <a:lstStyle/>
                    <a:p>
                      <a:pPr>
                        <a:buNone/>
                      </a:pPr>
                      <a:r>
                        <a:rPr lang="en-US" sz="1300" b="1"/>
                        <a:t>320.95</a:t>
                      </a:r>
                      <a:endParaRPr lang="en-US" sz="1300"/>
                    </a:p>
                  </a:txBody>
                  <a:tcPr marL="64624" marR="64624" marT="32312" marB="32312" anchor="ctr">
                    <a:lnL>
                      <a:noFill/>
                    </a:lnL>
                    <a:lnR>
                      <a:noFill/>
                    </a:lnR>
                    <a:lnT>
                      <a:noFill/>
                    </a:lnT>
                    <a:lnB>
                      <a:noFill/>
                    </a:lnB>
                    <a:noFill/>
                  </a:tcPr>
                </a:tc>
                <a:tc>
                  <a:txBody>
                    <a:bodyPr/>
                    <a:lstStyle/>
                    <a:p>
                      <a:pPr>
                        <a:buNone/>
                      </a:pPr>
                      <a:r>
                        <a:rPr lang="en-US" sz="1300" b="1"/>
                        <a:t>466.89</a:t>
                      </a:r>
                      <a:endParaRPr lang="en-US" sz="1300"/>
                    </a:p>
                  </a:txBody>
                  <a:tcPr marL="64624" marR="64624" marT="32312" marB="32312" anchor="ctr">
                    <a:lnL>
                      <a:noFill/>
                    </a:lnL>
                    <a:lnR>
                      <a:noFill/>
                    </a:lnR>
                    <a:lnT>
                      <a:noFill/>
                    </a:lnT>
                    <a:lnB>
                      <a:noFill/>
                    </a:lnB>
                    <a:noFill/>
                  </a:tcPr>
                </a:tc>
                <a:tc>
                  <a:txBody>
                    <a:bodyPr/>
                    <a:lstStyle/>
                    <a:p>
                      <a:pPr>
                        <a:buNone/>
                      </a:pPr>
                      <a:r>
                        <a:rPr lang="en-US" sz="1300" b="1"/>
                        <a:t>0.974</a:t>
                      </a:r>
                      <a:endParaRPr lang="en-US" sz="1300"/>
                    </a:p>
                  </a:txBody>
                  <a:tcPr marL="64624" marR="64624" marT="32312" marB="32312" anchor="ctr">
                    <a:lnL>
                      <a:noFill/>
                    </a:lnL>
                    <a:lnR>
                      <a:noFill/>
                    </a:lnR>
                    <a:lnT>
                      <a:noFill/>
                    </a:lnT>
                    <a:lnB>
                      <a:noFill/>
                    </a:lnB>
                    <a:noFill/>
                  </a:tcPr>
                </a:tc>
                <a:extLst>
                  <a:ext uri="{0D108BD9-81ED-4DB2-BD59-A6C34878D82A}">
                    <a16:rowId xmlns:a16="http://schemas.microsoft.com/office/drawing/2014/main" val="3774544380"/>
                  </a:ext>
                </a:extLst>
              </a:tr>
              <a:tr h="853849">
                <a:tc>
                  <a:txBody>
                    <a:bodyPr/>
                    <a:lstStyle/>
                    <a:p>
                      <a:pPr>
                        <a:buNone/>
                      </a:pPr>
                      <a:r>
                        <a:rPr lang="en-US" sz="1300" b="0" dirty="0">
                          <a:highlight>
                            <a:srgbClr val="FFFF00"/>
                          </a:highlight>
                        </a:rPr>
                        <a:t>Neural Network (ANN)</a:t>
                      </a:r>
                    </a:p>
                  </a:txBody>
                  <a:tcPr marL="64624" marR="64624" marT="32312" marB="32312"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err="1"/>
                        <a:t>SelectFromModel</a:t>
                      </a:r>
                      <a:r>
                        <a:rPr lang="en-US" sz="1300" dirty="0"/>
                        <a:t> (3 features)</a:t>
                      </a:r>
                    </a:p>
                    <a:p>
                      <a:pPr>
                        <a:buNone/>
                      </a:pPr>
                      <a:endParaRPr lang="en-US" sz="1300" dirty="0"/>
                    </a:p>
                  </a:txBody>
                  <a:tcPr marL="64624" marR="64624" marT="32312" marB="32312" anchor="ctr">
                    <a:lnL>
                      <a:noFill/>
                    </a:lnL>
                    <a:lnR>
                      <a:noFill/>
                    </a:lnR>
                    <a:lnT>
                      <a:noFill/>
                    </a:lnT>
                    <a:lnB>
                      <a:noFill/>
                    </a:lnB>
                    <a:noFill/>
                  </a:tcPr>
                </a:tc>
                <a:tc>
                  <a:txBody>
                    <a:bodyPr/>
                    <a:lstStyle/>
                    <a:p>
                      <a:pPr>
                        <a:buNone/>
                      </a:pPr>
                      <a:r>
                        <a:rPr lang="en-US" sz="1300" b="1"/>
                        <a:t>321.46</a:t>
                      </a:r>
                      <a:endParaRPr lang="en-US" sz="1300"/>
                    </a:p>
                  </a:txBody>
                  <a:tcPr marL="64624" marR="64624" marT="32312" marB="32312" anchor="ctr">
                    <a:lnL>
                      <a:noFill/>
                    </a:lnL>
                    <a:lnR>
                      <a:noFill/>
                    </a:lnR>
                    <a:lnT>
                      <a:noFill/>
                    </a:lnT>
                    <a:lnB>
                      <a:noFill/>
                    </a:lnB>
                    <a:noFill/>
                  </a:tcPr>
                </a:tc>
                <a:tc>
                  <a:txBody>
                    <a:bodyPr/>
                    <a:lstStyle/>
                    <a:p>
                      <a:pPr>
                        <a:buNone/>
                      </a:pPr>
                      <a:r>
                        <a:rPr lang="en-US" sz="1300" b="1" dirty="0"/>
                        <a:t>~425–450*</a:t>
                      </a:r>
                    </a:p>
                    <a:p>
                      <a:pPr>
                        <a:buNone/>
                      </a:pPr>
                      <a:r>
                        <a:rPr lang="en-US" sz="1050" dirty="0"/>
                        <a:t>RMSE inferred from loss value (MSE ≈ 180,475)</a:t>
                      </a:r>
                    </a:p>
                  </a:txBody>
                  <a:tcPr marL="64624" marR="64624" marT="32312" marB="32312" anchor="ctr">
                    <a:lnL>
                      <a:noFill/>
                    </a:lnL>
                    <a:lnR>
                      <a:noFill/>
                    </a:lnR>
                    <a:lnT>
                      <a:noFill/>
                    </a:lnT>
                    <a:lnB>
                      <a:noFill/>
                    </a:lnB>
                    <a:noFill/>
                  </a:tcPr>
                </a:tc>
                <a:tc>
                  <a:txBody>
                    <a:bodyPr/>
                    <a:lstStyle/>
                    <a:p>
                      <a:pPr>
                        <a:buNone/>
                      </a:pPr>
                      <a:r>
                        <a:rPr lang="en-US" sz="1300" b="1" dirty="0"/>
                        <a:t>0.978</a:t>
                      </a:r>
                    </a:p>
                  </a:txBody>
                  <a:tcPr marL="64624" marR="64624" marT="32312" marB="32312" anchor="ctr">
                    <a:lnL>
                      <a:noFill/>
                    </a:lnL>
                    <a:lnR>
                      <a:noFill/>
                    </a:lnR>
                    <a:lnT>
                      <a:noFill/>
                    </a:lnT>
                    <a:lnB>
                      <a:noFill/>
                    </a:lnB>
                    <a:noFill/>
                  </a:tcPr>
                </a:tc>
                <a:extLst>
                  <a:ext uri="{0D108BD9-81ED-4DB2-BD59-A6C34878D82A}">
                    <a16:rowId xmlns:a16="http://schemas.microsoft.com/office/drawing/2014/main" val="752237975"/>
                  </a:ext>
                </a:extLst>
              </a:tr>
            </a:tbl>
          </a:graphicData>
        </a:graphic>
      </p:graphicFrame>
    </p:spTree>
    <p:extLst>
      <p:ext uri="{BB962C8B-B14F-4D97-AF65-F5344CB8AC3E}">
        <p14:creationId xmlns:p14="http://schemas.microsoft.com/office/powerpoint/2010/main" val="2760638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6AF01-2716-5A8B-2514-E4947AB6984A}"/>
              </a:ext>
            </a:extLst>
          </p:cNvPr>
          <p:cNvSpPr>
            <a:spLocks noGrp="1"/>
          </p:cNvSpPr>
          <p:nvPr>
            <p:ph type="title"/>
          </p:nvPr>
        </p:nvSpPr>
        <p:spPr/>
        <p:txBody>
          <a:bodyPr/>
          <a:lstStyle/>
          <a:p>
            <a:r>
              <a:rPr lang="en-US" dirty="0"/>
              <a:t>Interpretation &amp; Comparison</a:t>
            </a:r>
          </a:p>
        </p:txBody>
      </p:sp>
      <p:sp>
        <p:nvSpPr>
          <p:cNvPr id="3" name="Content Placeholder 2">
            <a:extLst>
              <a:ext uri="{FF2B5EF4-FFF2-40B4-BE49-F238E27FC236}">
                <a16:creationId xmlns:a16="http://schemas.microsoft.com/office/drawing/2014/main" id="{6B9A07ED-C220-1A0F-0756-F69BCE9F75D4}"/>
              </a:ext>
            </a:extLst>
          </p:cNvPr>
          <p:cNvSpPr>
            <a:spLocks noGrp="1"/>
          </p:cNvSpPr>
          <p:nvPr>
            <p:ph idx="1"/>
          </p:nvPr>
        </p:nvSpPr>
        <p:spPr/>
        <p:txBody>
          <a:bodyPr>
            <a:normAutofit fontScale="85000" lnSpcReduction="20000"/>
          </a:bodyPr>
          <a:lstStyle/>
          <a:p>
            <a:r>
              <a:rPr lang="en-US" dirty="0"/>
              <a:t>Linear regression performs well when sufficient relevant features are included, but it remains limited in capturing complex relationships.</a:t>
            </a:r>
          </a:p>
          <a:p>
            <a:r>
              <a:rPr lang="en-US" dirty="0"/>
              <a:t>Decision trees are highly effective for invoice data due to feature interactions and non-linear patterns.</a:t>
            </a:r>
          </a:p>
          <a:p>
            <a:r>
              <a:rPr lang="en-US" dirty="0"/>
              <a:t>Deep learning provides the most accurate forecasts when large datasets are available, but model transparency is reduced.</a:t>
            </a:r>
          </a:p>
          <a:p>
            <a:r>
              <a:rPr lang="en-US" b="1" dirty="0"/>
              <a:t>Chosen Model: Decision Tree Regressor</a:t>
            </a:r>
          </a:p>
          <a:p>
            <a:r>
              <a:rPr lang="en-US" dirty="0"/>
              <a:t>Near-best predictive performance (R² ≈ 0.974)</a:t>
            </a:r>
          </a:p>
          <a:p>
            <a:r>
              <a:rPr lang="en-US" dirty="0"/>
              <a:t>Much better interpretability than neural networks</a:t>
            </a:r>
          </a:p>
          <a:p>
            <a:r>
              <a:rPr lang="en-US" dirty="0"/>
              <a:t>Lower computational cost</a:t>
            </a:r>
          </a:p>
          <a:p>
            <a:r>
              <a:rPr lang="en-US" dirty="0"/>
              <a:t>Suitable for operational and managerial decision-making</a:t>
            </a:r>
          </a:p>
          <a:p>
            <a:endParaRPr lang="en-US" dirty="0"/>
          </a:p>
        </p:txBody>
      </p:sp>
    </p:spTree>
    <p:extLst>
      <p:ext uri="{BB962C8B-B14F-4D97-AF65-F5344CB8AC3E}">
        <p14:creationId xmlns:p14="http://schemas.microsoft.com/office/powerpoint/2010/main" val="2083661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16438-A9B3-9E92-0CEB-3E9FCBB39753}"/>
              </a:ext>
            </a:extLst>
          </p:cNvPr>
          <p:cNvSpPr>
            <a:spLocks noGrp="1"/>
          </p:cNvSpPr>
          <p:nvPr>
            <p:ph type="title"/>
          </p:nvPr>
        </p:nvSpPr>
        <p:spPr>
          <a:xfrm>
            <a:off x="2018072" y="627341"/>
            <a:ext cx="7729728" cy="1188720"/>
          </a:xfrm>
        </p:spPr>
        <p:txBody>
          <a:bodyPr>
            <a:normAutofit/>
          </a:bodyPr>
          <a:lstStyle/>
          <a:p>
            <a:r>
              <a:rPr lang="en-US" dirty="0"/>
              <a:t>Strengths &amp; Limitations Summary</a:t>
            </a:r>
          </a:p>
        </p:txBody>
      </p:sp>
      <p:graphicFrame>
        <p:nvGraphicFramePr>
          <p:cNvPr id="4" name="Content Placeholder 3">
            <a:extLst>
              <a:ext uri="{FF2B5EF4-FFF2-40B4-BE49-F238E27FC236}">
                <a16:creationId xmlns:a16="http://schemas.microsoft.com/office/drawing/2014/main" id="{689C59BB-7316-5477-54E3-FEFA73DBDB14}"/>
              </a:ext>
            </a:extLst>
          </p:cNvPr>
          <p:cNvGraphicFramePr>
            <a:graphicFrameLocks noGrp="1"/>
          </p:cNvGraphicFramePr>
          <p:nvPr>
            <p:ph idx="1"/>
            <p:extLst>
              <p:ext uri="{D42A27DB-BD31-4B8C-83A1-F6EECF244321}">
                <p14:modId xmlns:p14="http://schemas.microsoft.com/office/powerpoint/2010/main" val="85493205"/>
              </p:ext>
            </p:extLst>
          </p:nvPr>
        </p:nvGraphicFramePr>
        <p:xfrm>
          <a:off x="844749" y="2153412"/>
          <a:ext cx="9952086" cy="4263080"/>
        </p:xfrm>
        <a:graphic>
          <a:graphicData uri="http://schemas.openxmlformats.org/drawingml/2006/table">
            <a:tbl>
              <a:tblPr/>
              <a:tblGrid>
                <a:gridCol w="2452276">
                  <a:extLst>
                    <a:ext uri="{9D8B030D-6E8A-4147-A177-3AD203B41FA5}">
                      <a16:colId xmlns:a16="http://schemas.microsoft.com/office/drawing/2014/main" val="3130470559"/>
                    </a:ext>
                  </a:extLst>
                </a:gridCol>
                <a:gridCol w="2419590">
                  <a:extLst>
                    <a:ext uri="{9D8B030D-6E8A-4147-A177-3AD203B41FA5}">
                      <a16:colId xmlns:a16="http://schemas.microsoft.com/office/drawing/2014/main" val="1034771891"/>
                    </a:ext>
                  </a:extLst>
                </a:gridCol>
                <a:gridCol w="2548496">
                  <a:extLst>
                    <a:ext uri="{9D8B030D-6E8A-4147-A177-3AD203B41FA5}">
                      <a16:colId xmlns:a16="http://schemas.microsoft.com/office/drawing/2014/main" val="2690639390"/>
                    </a:ext>
                  </a:extLst>
                </a:gridCol>
                <a:gridCol w="2531724">
                  <a:extLst>
                    <a:ext uri="{9D8B030D-6E8A-4147-A177-3AD203B41FA5}">
                      <a16:colId xmlns:a16="http://schemas.microsoft.com/office/drawing/2014/main" val="589834332"/>
                    </a:ext>
                  </a:extLst>
                </a:gridCol>
              </a:tblGrid>
              <a:tr h="514064">
                <a:tc>
                  <a:txBody>
                    <a:bodyPr/>
                    <a:lstStyle/>
                    <a:p>
                      <a:pPr>
                        <a:buNone/>
                      </a:pPr>
                      <a:r>
                        <a:rPr lang="en-US" sz="2300" dirty="0"/>
                        <a:t>Model</a:t>
                      </a:r>
                    </a:p>
                  </a:txBody>
                  <a:tcPr marL="116833" marR="116833" marT="58416" marB="58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300" dirty="0"/>
                        <a:t>Strengths</a:t>
                      </a:r>
                    </a:p>
                  </a:txBody>
                  <a:tcPr marL="116833" marR="116833" marT="58416" marB="58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300" dirty="0"/>
                        <a:t>Limitations</a:t>
                      </a:r>
                    </a:p>
                  </a:txBody>
                  <a:tcPr marL="116833" marR="116833" marT="58416" marB="58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b="0" dirty="0"/>
                        <a:t>Decision value</a:t>
                      </a:r>
                      <a:endParaRPr lang="en-US" sz="2300" b="0" dirty="0"/>
                    </a:p>
                  </a:txBody>
                  <a:tcPr marL="116833" marR="116833" marT="58416" marB="58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3552561"/>
                  </a:ext>
                </a:extLst>
              </a:tr>
              <a:tr h="926149">
                <a:tc>
                  <a:txBody>
                    <a:bodyPr/>
                    <a:lstStyle/>
                    <a:p>
                      <a:pPr>
                        <a:buNone/>
                      </a:pPr>
                      <a:r>
                        <a:rPr lang="en-US" sz="2300" dirty="0"/>
                        <a:t>Linear Regression</a:t>
                      </a:r>
                    </a:p>
                  </a:txBody>
                  <a:tcPr marL="116833" marR="116833" marT="58416" marB="58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000" dirty="0"/>
                        <a:t>Simple, interpretable</a:t>
                      </a:r>
                    </a:p>
                  </a:txBody>
                  <a:tcPr marL="116833" marR="116833" marT="58416" marB="58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000" dirty="0"/>
                        <a:t>Cannot model complex patterns</a:t>
                      </a:r>
                    </a:p>
                  </a:txBody>
                  <a:tcPr marL="116833" marR="116833" marT="58416" marB="58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000" dirty="0"/>
                        <a:t>Provides clear baseline estimates for expected payment amounts</a:t>
                      </a:r>
                    </a:p>
                  </a:txBody>
                  <a:tcPr marL="116833" marR="116833" marT="58416" marB="58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1498777"/>
                  </a:ext>
                </a:extLst>
              </a:tr>
              <a:tr h="864562">
                <a:tc>
                  <a:txBody>
                    <a:bodyPr/>
                    <a:lstStyle/>
                    <a:p>
                      <a:pPr>
                        <a:buNone/>
                      </a:pPr>
                      <a:r>
                        <a:rPr lang="en-US" sz="2300" dirty="0"/>
                        <a:t>Decision Tree</a:t>
                      </a:r>
                    </a:p>
                  </a:txBody>
                  <a:tcPr marL="116833" marR="116833" marT="58416" marB="58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000" dirty="0"/>
                        <a:t>Handles non-linearity, interpretable rules</a:t>
                      </a:r>
                    </a:p>
                  </a:txBody>
                  <a:tcPr marL="116833" marR="116833" marT="58416" marB="58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000" dirty="0"/>
                        <a:t>Can overfit</a:t>
                      </a:r>
                    </a:p>
                  </a:txBody>
                  <a:tcPr marL="116833" marR="116833" marT="58416" marB="58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000" dirty="0"/>
                        <a:t>Supports rule-based decisions and risk segmentation</a:t>
                      </a:r>
                    </a:p>
                  </a:txBody>
                  <a:tcPr marL="116833" marR="116833" marT="58416" marB="58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1272751"/>
                  </a:ext>
                </a:extLst>
              </a:tr>
              <a:tr h="864562">
                <a:tc>
                  <a:txBody>
                    <a:bodyPr/>
                    <a:lstStyle/>
                    <a:p>
                      <a:pPr>
                        <a:buNone/>
                      </a:pPr>
                      <a:r>
                        <a:rPr lang="en-US" sz="2300"/>
                        <a:t>Neural Network</a:t>
                      </a:r>
                    </a:p>
                  </a:txBody>
                  <a:tcPr marL="116833" marR="116833" marT="58416" marB="58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000" dirty="0"/>
                        <a:t>Highest accuracy, captures complexity</a:t>
                      </a:r>
                    </a:p>
                  </a:txBody>
                  <a:tcPr marL="116833" marR="116833" marT="58416" marB="58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000" dirty="0"/>
                        <a:t>Black-box, computational cost</a:t>
                      </a:r>
                    </a:p>
                  </a:txBody>
                  <a:tcPr marL="116833" marR="116833" marT="58416" marB="58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Improves forecasting accuracy for complex financial behavior</a:t>
                      </a:r>
                    </a:p>
                    <a:p>
                      <a:pPr>
                        <a:buNone/>
                      </a:pPr>
                      <a:endParaRPr lang="en-US" sz="2300" dirty="0"/>
                    </a:p>
                  </a:txBody>
                  <a:tcPr marL="116833" marR="116833" marT="58416" marB="584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8029630"/>
                  </a:ext>
                </a:extLst>
              </a:tr>
            </a:tbl>
          </a:graphicData>
        </a:graphic>
      </p:graphicFrame>
    </p:spTree>
    <p:extLst>
      <p:ext uri="{BB962C8B-B14F-4D97-AF65-F5344CB8AC3E}">
        <p14:creationId xmlns:p14="http://schemas.microsoft.com/office/powerpoint/2010/main" val="2488731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02BD1-C272-BC54-1C57-7D923C1D7676}"/>
              </a:ext>
            </a:extLst>
          </p:cNvPr>
          <p:cNvSpPr>
            <a:spLocks noGrp="1"/>
          </p:cNvSpPr>
          <p:nvPr>
            <p:ph type="title"/>
          </p:nvPr>
        </p:nvSpPr>
        <p:spPr/>
        <p:txBody>
          <a:bodyPr/>
          <a:lstStyle/>
          <a:p>
            <a:r>
              <a:rPr lang="en-US" dirty="0"/>
              <a:t>Time Series Forecasting Using Moving Averages</a:t>
            </a:r>
          </a:p>
        </p:txBody>
      </p:sp>
      <p:sp>
        <p:nvSpPr>
          <p:cNvPr id="3" name="Content Placeholder 2">
            <a:extLst>
              <a:ext uri="{FF2B5EF4-FFF2-40B4-BE49-F238E27FC236}">
                <a16:creationId xmlns:a16="http://schemas.microsoft.com/office/drawing/2014/main" id="{77DDF5CF-2246-5ACB-4115-A2EC4D73E0F0}"/>
              </a:ext>
            </a:extLst>
          </p:cNvPr>
          <p:cNvSpPr>
            <a:spLocks noGrp="1"/>
          </p:cNvSpPr>
          <p:nvPr>
            <p:ph idx="1"/>
          </p:nvPr>
        </p:nvSpPr>
        <p:spPr/>
        <p:txBody>
          <a:bodyPr/>
          <a:lstStyle/>
          <a:p>
            <a:r>
              <a:rPr lang="en-US" dirty="0"/>
              <a:t>Time series forecasting was performed using Simple Moving Average (SMA) and Exponential Moving Average (EMA) models. Monthly expected payment amounts were used to forecast future revenue by extrapolating historical patterns. SMA provides a stable forecast based on recent averages, while EMA emphasizes recent observations to produce a more responsive forecast. These models enable short-term revenue forecasting and support proactive financial planning.</a:t>
            </a:r>
          </a:p>
          <a:p>
            <a:endParaRPr lang="en-US" dirty="0"/>
          </a:p>
        </p:txBody>
      </p:sp>
      <p:graphicFrame>
        <p:nvGraphicFramePr>
          <p:cNvPr id="4" name="Table 3">
            <a:extLst>
              <a:ext uri="{FF2B5EF4-FFF2-40B4-BE49-F238E27FC236}">
                <a16:creationId xmlns:a16="http://schemas.microsoft.com/office/drawing/2014/main" id="{800A5CBD-29E7-3659-16F1-41AE815BE166}"/>
              </a:ext>
            </a:extLst>
          </p:cNvPr>
          <p:cNvGraphicFramePr>
            <a:graphicFrameLocks noGrp="1"/>
          </p:cNvGraphicFramePr>
          <p:nvPr>
            <p:extLst>
              <p:ext uri="{D42A27DB-BD31-4B8C-83A1-F6EECF244321}">
                <p14:modId xmlns:p14="http://schemas.microsoft.com/office/powerpoint/2010/main" val="3397335206"/>
              </p:ext>
            </p:extLst>
          </p:nvPr>
        </p:nvGraphicFramePr>
        <p:xfrm>
          <a:off x="2231136" y="4853059"/>
          <a:ext cx="7731126" cy="1371600"/>
        </p:xfrm>
        <a:graphic>
          <a:graphicData uri="http://schemas.openxmlformats.org/drawingml/2006/table">
            <a:tbl>
              <a:tblPr/>
              <a:tblGrid>
                <a:gridCol w="2577042">
                  <a:extLst>
                    <a:ext uri="{9D8B030D-6E8A-4147-A177-3AD203B41FA5}">
                      <a16:colId xmlns:a16="http://schemas.microsoft.com/office/drawing/2014/main" val="1944978638"/>
                    </a:ext>
                  </a:extLst>
                </a:gridCol>
                <a:gridCol w="2577042">
                  <a:extLst>
                    <a:ext uri="{9D8B030D-6E8A-4147-A177-3AD203B41FA5}">
                      <a16:colId xmlns:a16="http://schemas.microsoft.com/office/drawing/2014/main" val="2334812930"/>
                    </a:ext>
                  </a:extLst>
                </a:gridCol>
                <a:gridCol w="2577042">
                  <a:extLst>
                    <a:ext uri="{9D8B030D-6E8A-4147-A177-3AD203B41FA5}">
                      <a16:colId xmlns:a16="http://schemas.microsoft.com/office/drawing/2014/main" val="3329321951"/>
                    </a:ext>
                  </a:extLst>
                </a:gridCol>
              </a:tblGrid>
              <a:tr h="365760">
                <a:tc>
                  <a:txBody>
                    <a:bodyPr/>
                    <a:lstStyle/>
                    <a:p>
                      <a:pPr>
                        <a:buNone/>
                      </a:pPr>
                      <a:r>
                        <a:rPr lang="en-US" sz="1800" dirty="0"/>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a:t>Strengths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a:t>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9654701"/>
                  </a:ext>
                </a:extLst>
              </a:tr>
              <a:tr h="365760">
                <a:tc>
                  <a:txBody>
                    <a:bodyPr/>
                    <a:lstStyle/>
                    <a:p>
                      <a:pPr>
                        <a:buNone/>
                      </a:pPr>
                      <a:r>
                        <a:rPr lang="en-US" sz="1800" dirty="0"/>
                        <a:t>SMA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a:t>Simple, stable forecast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a:t>Slow to react to changes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1924660"/>
                  </a:ext>
                </a:extLst>
              </a:tr>
              <a:tr h="640080">
                <a:tc>
                  <a:txBody>
                    <a:bodyPr/>
                    <a:lstStyle/>
                    <a:p>
                      <a:pPr>
                        <a:buNone/>
                      </a:pPr>
                      <a:r>
                        <a:rPr lang="en-US" sz="1800" dirty="0"/>
                        <a:t>EMA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dirty="0"/>
                        <a:t>Responsive to recent trends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dirty="0"/>
                        <a:t>More sensitive to noise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9521256"/>
                  </a:ext>
                </a:extLst>
              </a:tr>
            </a:tbl>
          </a:graphicData>
        </a:graphic>
      </p:graphicFrame>
    </p:spTree>
    <p:extLst>
      <p:ext uri="{BB962C8B-B14F-4D97-AF65-F5344CB8AC3E}">
        <p14:creationId xmlns:p14="http://schemas.microsoft.com/office/powerpoint/2010/main" val="1032759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6F34B6ED-89B1-F286-31B1-4EAD1395964B}"/>
              </a:ext>
            </a:extLst>
          </p:cNvPr>
          <p:cNvSpPr>
            <a:spLocks noGrp="1"/>
          </p:cNvSpPr>
          <p:nvPr>
            <p:ph idx="1"/>
          </p:nvPr>
        </p:nvSpPr>
        <p:spPr>
          <a:xfrm>
            <a:off x="248576" y="426128"/>
            <a:ext cx="3618434" cy="5475122"/>
          </a:xfrm>
        </p:spPr>
        <p:txBody>
          <a:bodyPr>
            <a:normAutofit/>
          </a:bodyPr>
          <a:lstStyle/>
          <a:p>
            <a:r>
              <a:rPr lang="en-US" dirty="0"/>
              <a:t>The monthly expected payment amounts show a relatively stable trend over time with moderate fluctuations. The EMA model closely follows recent changes and produces a forecast for the next month of approximately 1.8 million JD, indicating expected revenue stability in the short term. This forecast supports proactive financial planning and cash-flow management.</a:t>
            </a:r>
          </a:p>
          <a:p>
            <a:r>
              <a:rPr lang="en-US" dirty="0"/>
              <a:t>The forecasted payment value enables management to anticipate future cash inflows and plan operational and financial resources accordingly.</a:t>
            </a:r>
          </a:p>
        </p:txBody>
      </p:sp>
      <p:sp>
        <p:nvSpPr>
          <p:cNvPr id="12" name="Rectangle 11">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D80CF17-E97D-1FB2-0C4E-402192520029}"/>
              </a:ext>
            </a:extLst>
          </p:cNvPr>
          <p:cNvPicPr>
            <a:picLocks noChangeAspect="1"/>
          </p:cNvPicPr>
          <p:nvPr/>
        </p:nvPicPr>
        <p:blipFill>
          <a:blip r:embed="rId2"/>
          <a:stretch>
            <a:fillRect/>
          </a:stretch>
        </p:blipFill>
        <p:spPr>
          <a:xfrm>
            <a:off x="4823366" y="1813934"/>
            <a:ext cx="6227064" cy="3238073"/>
          </a:xfrm>
          <a:prstGeom prst="rect">
            <a:avLst/>
          </a:prstGeom>
        </p:spPr>
      </p:pic>
    </p:spTree>
    <p:extLst>
      <p:ext uri="{BB962C8B-B14F-4D97-AF65-F5344CB8AC3E}">
        <p14:creationId xmlns:p14="http://schemas.microsoft.com/office/powerpoint/2010/main" val="2025786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13912-60C8-0CD7-21F9-4BB4C5212035}"/>
              </a:ext>
            </a:extLst>
          </p:cNvPr>
          <p:cNvSpPr>
            <a:spLocks noGrp="1"/>
          </p:cNvSpPr>
          <p:nvPr>
            <p:ph type="title"/>
          </p:nvPr>
        </p:nvSpPr>
        <p:spPr/>
        <p:txBody>
          <a:bodyPr/>
          <a:lstStyle/>
          <a:p>
            <a:r>
              <a:rPr lang="en-US" dirty="0"/>
              <a:t>Prescriptive Analytics Analysis (Activity 3)</a:t>
            </a:r>
          </a:p>
        </p:txBody>
      </p:sp>
      <p:sp>
        <p:nvSpPr>
          <p:cNvPr id="3" name="Content Placeholder 2">
            <a:extLst>
              <a:ext uri="{FF2B5EF4-FFF2-40B4-BE49-F238E27FC236}">
                <a16:creationId xmlns:a16="http://schemas.microsoft.com/office/drawing/2014/main" id="{2B67E0C3-4E40-A91B-D619-B346679BE42A}"/>
              </a:ext>
            </a:extLst>
          </p:cNvPr>
          <p:cNvSpPr>
            <a:spLocks noGrp="1"/>
          </p:cNvSpPr>
          <p:nvPr>
            <p:ph idx="1"/>
          </p:nvPr>
        </p:nvSpPr>
        <p:spPr>
          <a:xfrm>
            <a:off x="1180729" y="2638044"/>
            <a:ext cx="9552373" cy="3101983"/>
          </a:xfrm>
        </p:spPr>
        <p:txBody>
          <a:bodyPr/>
          <a:lstStyle/>
          <a:p>
            <a:r>
              <a:rPr lang="en-US" dirty="0"/>
              <a:t>Prescriptive analytics enables organizations to move beyond prediction and directly determine the best course of action. </a:t>
            </a:r>
          </a:p>
          <a:p>
            <a:r>
              <a:rPr lang="en-US" dirty="0"/>
              <a:t>The prescriptive analytics task focuses on determining the optimal allocation of invoices across three processing centers (Amman, Irbid, Aqaba) in order to minimize total operational cost while satisfying capacity and accuracy constraints.</a:t>
            </a:r>
          </a:p>
          <a:p>
            <a:r>
              <a:rPr lang="en-US" dirty="0"/>
              <a:t>Two prescriptive analytic techniques were applied:</a:t>
            </a:r>
          </a:p>
          <a:p>
            <a:r>
              <a:rPr lang="en-US" b="1" dirty="0"/>
              <a:t>Linear Programming (LP)</a:t>
            </a:r>
            <a:endParaRPr lang="en-US" dirty="0"/>
          </a:p>
          <a:p>
            <a:r>
              <a:rPr lang="en-US" b="1" dirty="0"/>
              <a:t>Genetic Algorithm (GA)</a:t>
            </a:r>
            <a:endParaRPr lang="en-US" dirty="0"/>
          </a:p>
          <a:p>
            <a:endParaRPr lang="en-US" dirty="0"/>
          </a:p>
        </p:txBody>
      </p:sp>
    </p:spTree>
    <p:extLst>
      <p:ext uri="{BB962C8B-B14F-4D97-AF65-F5344CB8AC3E}">
        <p14:creationId xmlns:p14="http://schemas.microsoft.com/office/powerpoint/2010/main" val="2737355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E6A0B-45DE-8766-9A06-FC937C1DEB65}"/>
              </a:ext>
            </a:extLst>
          </p:cNvPr>
          <p:cNvSpPr>
            <a:spLocks noGrp="1"/>
          </p:cNvSpPr>
          <p:nvPr>
            <p:ph type="title"/>
          </p:nvPr>
        </p:nvSpPr>
        <p:spPr/>
        <p:txBody>
          <a:bodyPr/>
          <a:lstStyle/>
          <a:p>
            <a:r>
              <a:rPr lang="en-US" dirty="0"/>
              <a:t>Analysis of Linear Programming (LP)</a:t>
            </a:r>
          </a:p>
        </p:txBody>
      </p:sp>
      <p:sp>
        <p:nvSpPr>
          <p:cNvPr id="3" name="Content Placeholder 2">
            <a:extLst>
              <a:ext uri="{FF2B5EF4-FFF2-40B4-BE49-F238E27FC236}">
                <a16:creationId xmlns:a16="http://schemas.microsoft.com/office/drawing/2014/main" id="{1BF18DA2-1861-AAED-94D6-694651B35164}"/>
              </a:ext>
            </a:extLst>
          </p:cNvPr>
          <p:cNvSpPr>
            <a:spLocks noGrp="1"/>
          </p:cNvSpPr>
          <p:nvPr>
            <p:ph idx="1"/>
          </p:nvPr>
        </p:nvSpPr>
        <p:spPr>
          <a:xfrm>
            <a:off x="319596" y="2459116"/>
            <a:ext cx="11159231" cy="4216892"/>
          </a:xfrm>
        </p:spPr>
        <p:txBody>
          <a:bodyPr>
            <a:normAutofit fontScale="77500" lnSpcReduction="20000"/>
          </a:bodyPr>
          <a:lstStyle/>
          <a:p>
            <a:r>
              <a:rPr lang="en-US" dirty="0"/>
              <a:t>LP is an </a:t>
            </a:r>
            <a:r>
              <a:rPr lang="en-US" b="1" dirty="0"/>
              <a:t>exact</a:t>
            </a:r>
            <a:r>
              <a:rPr lang="en-US" dirty="0"/>
              <a:t> optimization technique: it finds the </a:t>
            </a:r>
            <a:r>
              <a:rPr lang="en-US" b="1" dirty="0"/>
              <a:t>best possible solution mathematically</a:t>
            </a:r>
            <a:r>
              <a:rPr lang="en-US" dirty="0"/>
              <a:t>, while satisfying all constraints.</a:t>
            </a:r>
          </a:p>
          <a:p>
            <a:r>
              <a:rPr lang="en-US" b="1" dirty="0"/>
              <a:t>How LP operates in this context</a:t>
            </a:r>
          </a:p>
          <a:p>
            <a:r>
              <a:rPr lang="en-US" dirty="0"/>
              <a:t>Decision variables represent invoice quantities per center.</a:t>
            </a:r>
          </a:p>
          <a:p>
            <a:r>
              <a:rPr lang="en-US" dirty="0"/>
              <a:t>The objective function minimizes total processing cost.</a:t>
            </a:r>
          </a:p>
          <a:p>
            <a:r>
              <a:rPr lang="en-US" dirty="0"/>
              <a:t>Constraints ensure capacity limits and quality requirements are met.</a:t>
            </a:r>
          </a:p>
          <a:p>
            <a:r>
              <a:rPr lang="en-US" b="1" dirty="0"/>
              <a:t>Why LP is appropriate</a:t>
            </a:r>
          </a:p>
          <a:p>
            <a:r>
              <a:rPr lang="en-US" dirty="0"/>
              <a:t>The problem is linear and well-defined.</a:t>
            </a:r>
          </a:p>
          <a:p>
            <a:r>
              <a:rPr lang="en-US" dirty="0"/>
              <a:t>All constraints can be mathematically expressed.</a:t>
            </a:r>
          </a:p>
          <a:p>
            <a:r>
              <a:rPr lang="en-US" dirty="0"/>
              <a:t>LP guarantees the </a:t>
            </a:r>
            <a:r>
              <a:rPr lang="en-US" b="1" dirty="0"/>
              <a:t>lowest possible cost</a:t>
            </a:r>
            <a:r>
              <a:rPr lang="en-US" dirty="0"/>
              <a:t>.</a:t>
            </a:r>
          </a:p>
          <a:p>
            <a:r>
              <a:rPr lang="en-US" b="1" dirty="0"/>
              <a:t>Decision outcome</a:t>
            </a:r>
          </a:p>
          <a:p>
            <a:r>
              <a:rPr lang="en-US" dirty="0"/>
              <a:t>LP provides a clear, optimal allocation plan.</a:t>
            </a:r>
          </a:p>
          <a:p>
            <a:r>
              <a:rPr lang="en-US" dirty="0"/>
              <a:t>Management can confidently implement the solution knowing it is cost-minimal.</a:t>
            </a:r>
          </a:p>
          <a:p>
            <a:r>
              <a:rPr lang="en-US" b="1" dirty="0"/>
              <a:t>Analytical insight</a:t>
            </a:r>
          </a:p>
          <a:p>
            <a:r>
              <a:rPr lang="en-US" dirty="0"/>
              <a:t>LP is highly effective when the problem structure is clear, stable, and mathematically expressible.</a:t>
            </a:r>
          </a:p>
          <a:p>
            <a:endParaRPr lang="en-US" dirty="0"/>
          </a:p>
        </p:txBody>
      </p:sp>
    </p:spTree>
    <p:extLst>
      <p:ext uri="{BB962C8B-B14F-4D97-AF65-F5344CB8AC3E}">
        <p14:creationId xmlns:p14="http://schemas.microsoft.com/office/powerpoint/2010/main" val="2614571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63924-8617-BE03-AD48-D1B3351E65B1}"/>
              </a:ext>
            </a:extLst>
          </p:cNvPr>
          <p:cNvSpPr>
            <a:spLocks noGrp="1"/>
          </p:cNvSpPr>
          <p:nvPr>
            <p:ph type="title"/>
          </p:nvPr>
        </p:nvSpPr>
        <p:spPr/>
        <p:txBody>
          <a:bodyPr/>
          <a:lstStyle/>
          <a:p>
            <a:r>
              <a:rPr lang="en-US"/>
              <a:t>Analysis of Genetic Algorithm (GA)</a:t>
            </a:r>
          </a:p>
        </p:txBody>
      </p:sp>
      <p:sp>
        <p:nvSpPr>
          <p:cNvPr id="3" name="Content Placeholder 2">
            <a:extLst>
              <a:ext uri="{FF2B5EF4-FFF2-40B4-BE49-F238E27FC236}">
                <a16:creationId xmlns:a16="http://schemas.microsoft.com/office/drawing/2014/main" id="{4C9A204B-6C56-D729-B54D-53131F827AD9}"/>
              </a:ext>
            </a:extLst>
          </p:cNvPr>
          <p:cNvSpPr>
            <a:spLocks noGrp="1"/>
          </p:cNvSpPr>
          <p:nvPr>
            <p:ph idx="1"/>
          </p:nvPr>
        </p:nvSpPr>
        <p:spPr>
          <a:xfrm>
            <a:off x="186431" y="2224433"/>
            <a:ext cx="11017188" cy="4495963"/>
          </a:xfrm>
        </p:spPr>
        <p:txBody>
          <a:bodyPr>
            <a:normAutofit fontScale="77500" lnSpcReduction="20000"/>
          </a:bodyPr>
          <a:lstStyle/>
          <a:p>
            <a:r>
              <a:rPr lang="en-US" dirty="0"/>
              <a:t>The Genetic Algorithm is a heuristic prescriptive technique inspired by natural evolution and is suitable for complex or large-scale problems.</a:t>
            </a:r>
          </a:p>
          <a:p>
            <a:r>
              <a:rPr lang="en-US" b="1" dirty="0"/>
              <a:t>How GA operates in this context</a:t>
            </a:r>
          </a:p>
          <a:p>
            <a:r>
              <a:rPr lang="en-US" dirty="0"/>
              <a:t>Each individual represents a possible invoice allocation.</a:t>
            </a:r>
          </a:p>
          <a:p>
            <a:r>
              <a:rPr lang="en-US" dirty="0"/>
              <a:t>A fitness function evaluates total cost.</a:t>
            </a:r>
          </a:p>
          <a:p>
            <a:r>
              <a:rPr lang="en-US" dirty="0"/>
              <a:t>Genetic operations (selection, crossover, mutation) evolve solutions.</a:t>
            </a:r>
          </a:p>
          <a:p>
            <a:r>
              <a:rPr lang="en-US" dirty="0"/>
              <a:t>A repair function enforces feasibility.</a:t>
            </a:r>
          </a:p>
          <a:p>
            <a:r>
              <a:rPr lang="en-US" b="1" dirty="0"/>
              <a:t>Why GA is appropriate</a:t>
            </a:r>
          </a:p>
          <a:p>
            <a:r>
              <a:rPr lang="en-US" dirty="0"/>
              <a:t>Does not require strict mathematical assumptions.</a:t>
            </a:r>
          </a:p>
          <a:p>
            <a:r>
              <a:rPr lang="en-US" dirty="0"/>
              <a:t>Can handle constraints flexibly.</a:t>
            </a:r>
          </a:p>
          <a:p>
            <a:r>
              <a:rPr lang="en-US" dirty="0"/>
              <a:t>Suitable for scenarios where exact optimization may be difficult.</a:t>
            </a:r>
          </a:p>
          <a:p>
            <a:r>
              <a:rPr lang="en-US" b="1" dirty="0"/>
              <a:t>Decision outcome</a:t>
            </a:r>
          </a:p>
          <a:p>
            <a:r>
              <a:rPr lang="en-US" dirty="0"/>
              <a:t>GA converges toward a near-optimal solution.</a:t>
            </a:r>
          </a:p>
          <a:p>
            <a:r>
              <a:rPr lang="en-US" dirty="0"/>
              <a:t>Results closely match the LP solution, validating its effectiveness.</a:t>
            </a:r>
          </a:p>
          <a:p>
            <a:r>
              <a:rPr lang="en-US" b="1" dirty="0"/>
              <a:t>Analytical insight</a:t>
            </a:r>
          </a:p>
          <a:p>
            <a:r>
              <a:rPr lang="en-US" dirty="0"/>
              <a:t>GA provides flexibility and robustness, especially for complex decision environments.</a:t>
            </a:r>
          </a:p>
          <a:p>
            <a:endParaRPr lang="en-US" dirty="0"/>
          </a:p>
        </p:txBody>
      </p:sp>
    </p:spTree>
    <p:extLst>
      <p:ext uri="{BB962C8B-B14F-4D97-AF65-F5344CB8AC3E}">
        <p14:creationId xmlns:p14="http://schemas.microsoft.com/office/powerpoint/2010/main" val="2762826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86878D-713E-CB4E-9885-AD722AEDF2B4}"/>
              </a:ext>
            </a:extLst>
          </p:cNvPr>
          <p:cNvSpPr>
            <a:spLocks noGrp="1"/>
          </p:cNvSpPr>
          <p:nvPr>
            <p:ph idx="1"/>
          </p:nvPr>
        </p:nvSpPr>
        <p:spPr>
          <a:xfrm>
            <a:off x="1121427" y="702712"/>
            <a:ext cx="7729728" cy="3101983"/>
          </a:xfrm>
        </p:spPr>
        <p:txBody>
          <a:bodyPr>
            <a:normAutofit fontScale="92500" lnSpcReduction="20000"/>
          </a:bodyPr>
          <a:lstStyle/>
          <a:p>
            <a:r>
              <a:rPr lang="en-US" b="1" dirty="0"/>
              <a:t>GA Convergence and Evolution Analysis</a:t>
            </a:r>
          </a:p>
          <a:p>
            <a:r>
              <a:rPr lang="en-US" dirty="0"/>
              <a:t>The convergence curve shows steady reduction in cost across generations.</a:t>
            </a:r>
          </a:p>
          <a:p>
            <a:r>
              <a:rPr lang="en-US" dirty="0"/>
              <a:t>Early generations explore many solutions.</a:t>
            </a:r>
          </a:p>
          <a:p>
            <a:r>
              <a:rPr lang="en-US" dirty="0"/>
              <a:t>Later generations refine high-quality solutions.</a:t>
            </a:r>
          </a:p>
          <a:p>
            <a:r>
              <a:rPr lang="en-US" dirty="0"/>
              <a:t>Stabilization indicates convergence to an optimal or near-optimal solution.</a:t>
            </a:r>
          </a:p>
          <a:p>
            <a:r>
              <a:rPr lang="en-US" dirty="0"/>
              <a:t>This demonstrates how prescriptive analytics </a:t>
            </a:r>
            <a:r>
              <a:rPr lang="en-US" b="1" dirty="0"/>
              <a:t>iteratively improves decision quality</a:t>
            </a:r>
            <a:r>
              <a:rPr lang="en-US" dirty="0"/>
              <a:t>.</a:t>
            </a:r>
          </a:p>
          <a:p>
            <a:endParaRPr lang="ar-SA" dirty="0"/>
          </a:p>
          <a:p>
            <a:r>
              <a:rPr lang="en-US" dirty="0"/>
              <a:t>LP guarantees the optimal solution under linear assumptions, while GA provides flexibility and robustness when constraints or cost structures become complex</a:t>
            </a:r>
          </a:p>
        </p:txBody>
      </p:sp>
      <p:graphicFrame>
        <p:nvGraphicFramePr>
          <p:cNvPr id="4" name="Table 3">
            <a:extLst>
              <a:ext uri="{FF2B5EF4-FFF2-40B4-BE49-F238E27FC236}">
                <a16:creationId xmlns:a16="http://schemas.microsoft.com/office/drawing/2014/main" id="{21BD177C-BE63-42C9-6C5D-76391D4BDDCE}"/>
              </a:ext>
            </a:extLst>
          </p:cNvPr>
          <p:cNvGraphicFramePr>
            <a:graphicFrameLocks noGrp="1"/>
          </p:cNvGraphicFramePr>
          <p:nvPr>
            <p:extLst>
              <p:ext uri="{D42A27DB-BD31-4B8C-83A1-F6EECF244321}">
                <p14:modId xmlns:p14="http://schemas.microsoft.com/office/powerpoint/2010/main" val="230131899"/>
              </p:ext>
            </p:extLst>
          </p:nvPr>
        </p:nvGraphicFramePr>
        <p:xfrm>
          <a:off x="1573490" y="4081548"/>
          <a:ext cx="7731124" cy="1920240"/>
        </p:xfrm>
        <a:graphic>
          <a:graphicData uri="http://schemas.openxmlformats.org/drawingml/2006/table">
            <a:tbl>
              <a:tblPr/>
              <a:tblGrid>
                <a:gridCol w="1932781">
                  <a:extLst>
                    <a:ext uri="{9D8B030D-6E8A-4147-A177-3AD203B41FA5}">
                      <a16:colId xmlns:a16="http://schemas.microsoft.com/office/drawing/2014/main" val="3144685784"/>
                    </a:ext>
                  </a:extLst>
                </a:gridCol>
                <a:gridCol w="1932781">
                  <a:extLst>
                    <a:ext uri="{9D8B030D-6E8A-4147-A177-3AD203B41FA5}">
                      <a16:colId xmlns:a16="http://schemas.microsoft.com/office/drawing/2014/main" val="3277759077"/>
                    </a:ext>
                  </a:extLst>
                </a:gridCol>
                <a:gridCol w="1932781">
                  <a:extLst>
                    <a:ext uri="{9D8B030D-6E8A-4147-A177-3AD203B41FA5}">
                      <a16:colId xmlns:a16="http://schemas.microsoft.com/office/drawing/2014/main" val="253826736"/>
                    </a:ext>
                  </a:extLst>
                </a:gridCol>
                <a:gridCol w="1932781">
                  <a:extLst>
                    <a:ext uri="{9D8B030D-6E8A-4147-A177-3AD203B41FA5}">
                      <a16:colId xmlns:a16="http://schemas.microsoft.com/office/drawing/2014/main" val="456771822"/>
                    </a:ext>
                  </a:extLst>
                </a:gridCol>
              </a:tblGrid>
              <a:tr h="0">
                <a:tc>
                  <a:txBody>
                    <a:bodyPr/>
                    <a:lstStyle/>
                    <a:p>
                      <a:pPr>
                        <a:buNone/>
                      </a:pPr>
                      <a:r>
                        <a:rPr lang="en-US" dirty="0"/>
                        <a:t>Technique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Strengths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Decision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0091232"/>
                  </a:ext>
                </a:extLst>
              </a:tr>
              <a:tr h="0">
                <a:tc>
                  <a:txBody>
                    <a:bodyPr/>
                    <a:lstStyle/>
                    <a:p>
                      <a:pPr>
                        <a:buNone/>
                      </a:pPr>
                      <a:r>
                        <a:rPr lang="en-US" dirty="0"/>
                        <a:t>Linear Programming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Exact, optimal, 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Requires linear structure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Precise operational planning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9040611"/>
                  </a:ext>
                </a:extLst>
              </a:tr>
              <a:tr h="0">
                <a:tc>
                  <a:txBody>
                    <a:bodyPr/>
                    <a:lstStyle/>
                    <a:p>
                      <a:pPr>
                        <a:buNone/>
                      </a:pPr>
                      <a:r>
                        <a:rPr lang="en-US"/>
                        <a:t>Genetic Algorithm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Flexible, robust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Approximate solution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Adaptable decision-making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895944"/>
                  </a:ext>
                </a:extLst>
              </a:tr>
            </a:tbl>
          </a:graphicData>
        </a:graphic>
      </p:graphicFrame>
    </p:spTree>
    <p:extLst>
      <p:ext uri="{BB962C8B-B14F-4D97-AF65-F5344CB8AC3E}">
        <p14:creationId xmlns:p14="http://schemas.microsoft.com/office/powerpoint/2010/main" val="2191002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F86BD-5D48-93D1-D5B5-4E4FBAC22FBF}"/>
              </a:ext>
            </a:extLst>
          </p:cNvPr>
          <p:cNvSpPr>
            <a:spLocks noGrp="1"/>
          </p:cNvSpPr>
          <p:nvPr>
            <p:ph type="title"/>
          </p:nvPr>
        </p:nvSpPr>
        <p:spPr>
          <a:xfrm>
            <a:off x="1376039" y="964692"/>
            <a:ext cx="9623394" cy="1188720"/>
          </a:xfrm>
        </p:spPr>
        <p:txBody>
          <a:bodyPr/>
          <a:lstStyle/>
          <a:p>
            <a:r>
              <a:rPr lang="en-US" dirty="0"/>
              <a:t>Using Prescriptive Analytics to Find the Best Course of Action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11BC39-FE84-B536-C459-2AC04EF8A0C1}"/>
                  </a:ext>
                </a:extLst>
              </p:cNvPr>
              <p:cNvSpPr>
                <a:spLocks noGrp="1"/>
              </p:cNvSpPr>
              <p:nvPr>
                <p:ph idx="1"/>
              </p:nvPr>
            </p:nvSpPr>
            <p:spPr>
              <a:xfrm>
                <a:off x="1260629" y="2379216"/>
                <a:ext cx="9090734" cy="3595456"/>
              </a:xfrm>
            </p:spPr>
            <p:txBody>
              <a:bodyPr>
                <a:normAutofit fontScale="92500" lnSpcReduction="20000"/>
              </a:bodyPr>
              <a:lstStyle/>
              <a:p>
                <a:r>
                  <a:rPr lang="en-US" dirty="0"/>
                  <a:t>In this scenario, prescriptive analytic techniques are used to determine the best course of action by comparing all feasible invoice allocations and selecting the one that minimizes cost while meeting operational constraints.</a:t>
                </a:r>
              </a:p>
              <a:p>
                <a:r>
                  <a:rPr lang="en-US" b="1" dirty="0"/>
                  <a:t>Linear Programming (LP)</a:t>
                </a:r>
                <a:r>
                  <a:rPr lang="en-US" dirty="0"/>
                  <a:t> finds the best course of action by solving the cost-minimization model under constraints. It produced a minimum cost of 2509.09 JD with the allocation </a:t>
                </a:r>
                <a14:m>
                  <m:oMath xmlns:m="http://schemas.openxmlformats.org/officeDocument/2006/math">
                    <m:r>
                      <a:rPr lang="en-US" b="0" i="1">
                        <a:latin typeface="Cambria Math" panose="02040503050406030204" pitchFamily="18" charset="0"/>
                      </a:rPr>
                      <m:t>𝐴</m:t>
                    </m:r>
                    <m:r>
                      <a:rPr lang="en-US" b="0">
                        <a:latin typeface="Cambria Math" panose="02040503050406030204" pitchFamily="18" charset="0"/>
                      </a:rPr>
                      <m:t>=</m:t>
                    </m:r>
                    <m:r>
                      <a:rPr lang="en-US" b="0" i="1">
                        <a:latin typeface="Cambria Math" panose="02040503050406030204" pitchFamily="18" charset="0"/>
                      </a:rPr>
                      <m:t>0</m:t>
                    </m:r>
                  </m:oMath>
                </a14:m>
                <a:r>
                  <a:rPr lang="en-US" dirty="0"/>
                  <a:t>, </a:t>
                </a:r>
                <a14:m>
                  <m:oMath xmlns:m="http://schemas.openxmlformats.org/officeDocument/2006/math">
                    <m:r>
                      <a:rPr lang="en-US" b="0" i="1">
                        <a:latin typeface="Cambria Math" panose="02040503050406030204" pitchFamily="18" charset="0"/>
                      </a:rPr>
                      <m:t>𝐼</m:t>
                    </m:r>
                    <m:r>
                      <a:rPr lang="en-US" b="0">
                        <a:latin typeface="Cambria Math" panose="02040503050406030204" pitchFamily="18" charset="0"/>
                      </a:rPr>
                      <m:t>=</m:t>
                    </m:r>
                    <m:r>
                      <a:rPr lang="en-US" b="0" i="1">
                        <a:latin typeface="Cambria Math" panose="02040503050406030204" pitchFamily="18" charset="0"/>
                      </a:rPr>
                      <m:t>3181</m:t>
                    </m:r>
                    <m:r>
                      <a:rPr lang="en-US" b="0">
                        <a:latin typeface="Cambria Math" panose="02040503050406030204" pitchFamily="18" charset="0"/>
                      </a:rPr>
                      <m:t>.</m:t>
                    </m:r>
                    <m:r>
                      <a:rPr lang="en-US" b="0" i="1">
                        <a:latin typeface="Cambria Math" panose="02040503050406030204" pitchFamily="18" charset="0"/>
                      </a:rPr>
                      <m:t>82</m:t>
                    </m:r>
                  </m:oMath>
                </a14:m>
                <a:r>
                  <a:rPr lang="en-US" dirty="0"/>
                  <a:t>, </a:t>
                </a:r>
                <a14:m>
                  <m:oMath xmlns:m="http://schemas.openxmlformats.org/officeDocument/2006/math">
                    <m:r>
                      <a:rPr lang="en-US" b="0" i="1">
                        <a:latin typeface="Cambria Math" panose="02040503050406030204" pitchFamily="18" charset="0"/>
                      </a:rPr>
                      <m:t>𝑄</m:t>
                    </m:r>
                    <m:r>
                      <a:rPr lang="en-US" b="0">
                        <a:latin typeface="Cambria Math" panose="02040503050406030204" pitchFamily="18" charset="0"/>
                      </a:rPr>
                      <m:t>=</m:t>
                    </m:r>
                    <m:r>
                      <a:rPr lang="en-US" b="0" i="1">
                        <a:latin typeface="Cambria Math" panose="02040503050406030204" pitchFamily="18" charset="0"/>
                      </a:rPr>
                      <m:t>1818</m:t>
                    </m:r>
                    <m:r>
                      <a:rPr lang="en-US" b="0">
                        <a:latin typeface="Cambria Math" panose="02040503050406030204" pitchFamily="18" charset="0"/>
                      </a:rPr>
                      <m:t>.</m:t>
                    </m:r>
                    <m:r>
                      <a:rPr lang="en-US" b="0" i="1">
                        <a:latin typeface="Cambria Math" panose="02040503050406030204" pitchFamily="18" charset="0"/>
                      </a:rPr>
                      <m:t>18</m:t>
                    </m:r>
                  </m:oMath>
                </a14:m>
                <a:r>
                  <a:rPr lang="en-US" dirty="0"/>
                  <a:t>. Because invoices must be whole numbers, the solution is rounded to a practical plan: A=0, I=3182, Q=1818, while still satisfying all requirements.</a:t>
                </a:r>
              </a:p>
              <a:p>
                <a:r>
                  <a:rPr lang="en-US" b="1" dirty="0"/>
                  <a:t>Genetic Algorithm (GA)</a:t>
                </a:r>
                <a:r>
                  <a:rPr lang="en-US" dirty="0"/>
                  <a:t> finds the best course of action by iteratively improving candidate solutions. Starting from random allocations, GA applies selection, crossover, and mutation while enforcing constraints through a repair function. Over generations, the best cost decreased and stabilized (converged) around 2509 JD, producing a near-identical solution (A=0, I=3182, Q=1818). This demonstrates how prescriptive analytics guides decision-making by identifying a cost-optimal and feasible operational plan.</a:t>
                </a:r>
              </a:p>
              <a:p>
                <a:pPr marL="0" indent="0">
                  <a:buNone/>
                </a:pPr>
                <a:r>
                  <a:rPr lang="en-US" dirty="0"/>
                  <a:t>Management can confidently implement the LP solution in stable conditions and rely on GA in more complex or changing environments</a:t>
                </a:r>
              </a:p>
            </p:txBody>
          </p:sp>
        </mc:Choice>
        <mc:Fallback xmlns="">
          <p:sp>
            <p:nvSpPr>
              <p:cNvPr id="3" name="Content Placeholder 2">
                <a:extLst>
                  <a:ext uri="{FF2B5EF4-FFF2-40B4-BE49-F238E27FC236}">
                    <a16:creationId xmlns:a16="http://schemas.microsoft.com/office/drawing/2014/main" id="{6711BC39-FE84-B536-C459-2AC04EF8A0C1}"/>
                  </a:ext>
                </a:extLst>
              </p:cNvPr>
              <p:cNvSpPr>
                <a:spLocks noGrp="1" noRot="1" noChangeAspect="1" noMove="1" noResize="1" noEditPoints="1" noAdjustHandles="1" noChangeArrowheads="1" noChangeShapeType="1" noTextEdit="1"/>
              </p:cNvSpPr>
              <p:nvPr>
                <p:ph idx="1"/>
              </p:nvPr>
            </p:nvSpPr>
            <p:spPr>
              <a:xfrm>
                <a:off x="1260629" y="2379216"/>
                <a:ext cx="9090734" cy="3595456"/>
              </a:xfrm>
              <a:blipFill>
                <a:blip r:embed="rId2"/>
                <a:stretch>
                  <a:fillRect l="-469" t="-1864" r="-872" b="-1864"/>
                </a:stretch>
              </a:blipFill>
            </p:spPr>
            <p:txBody>
              <a:bodyPr/>
              <a:lstStyle/>
              <a:p>
                <a:r>
                  <a:rPr lang="en-US">
                    <a:noFill/>
                  </a:rPr>
                  <a:t> </a:t>
                </a:r>
              </a:p>
            </p:txBody>
          </p:sp>
        </mc:Fallback>
      </mc:AlternateContent>
    </p:spTree>
    <p:extLst>
      <p:ext uri="{BB962C8B-B14F-4D97-AF65-F5344CB8AC3E}">
        <p14:creationId xmlns:p14="http://schemas.microsoft.com/office/powerpoint/2010/main" val="1766932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059510-5EB2-0B4A-4278-0583780C6834}"/>
              </a:ext>
            </a:extLst>
          </p:cNvPr>
          <p:cNvSpPr>
            <a:spLocks noGrp="1"/>
          </p:cNvSpPr>
          <p:nvPr>
            <p:ph idx="1"/>
          </p:nvPr>
        </p:nvSpPr>
        <p:spPr>
          <a:xfrm>
            <a:off x="803243" y="2638044"/>
            <a:ext cx="5963317" cy="3263206"/>
          </a:xfrm>
        </p:spPr>
        <p:txBody>
          <a:bodyPr>
            <a:normAutofit/>
          </a:bodyPr>
          <a:lstStyle/>
          <a:p>
            <a:r>
              <a:rPr lang="en-US" dirty="0"/>
              <a:t>convergence curve shows:</a:t>
            </a:r>
          </a:p>
          <a:p>
            <a:r>
              <a:rPr lang="en-US" dirty="0"/>
              <a:t>Big cost improvement in early generations (fast learning)</a:t>
            </a:r>
          </a:p>
          <a:p>
            <a:r>
              <a:rPr lang="en-US" dirty="0"/>
              <a:t>Then the curve becomes flat around </a:t>
            </a:r>
            <a:r>
              <a:rPr lang="en-US" b="1" dirty="0"/>
              <a:t>~2509 JD</a:t>
            </a:r>
            <a:endParaRPr lang="en-US" dirty="0"/>
          </a:p>
          <a:p>
            <a:r>
              <a:rPr lang="en-US" dirty="0"/>
              <a:t>This means the GA </a:t>
            </a:r>
            <a:r>
              <a:rPr lang="en-US" b="1" dirty="0"/>
              <a:t>converged</a:t>
            </a:r>
            <a:r>
              <a:rPr lang="en-US" dirty="0"/>
              <a:t> (stopped improving), indicating it reached a stable near-optimal solution</a:t>
            </a:r>
          </a:p>
          <a:p>
            <a:r>
              <a:rPr lang="en-US" b="1" dirty="0"/>
              <a:t>What it proves:</a:t>
            </a:r>
            <a:br>
              <a:rPr lang="en-US" dirty="0"/>
            </a:br>
            <a:r>
              <a:rPr lang="en-US" dirty="0"/>
              <a:t>The population evolved from random allocations to an efficient cost-minimizing allocation through selection, crossover, and mutation.</a:t>
            </a:r>
          </a:p>
          <a:p>
            <a:endParaRPr lang="en-US" dirty="0"/>
          </a:p>
        </p:txBody>
      </p:sp>
      <p:sp>
        <p:nvSpPr>
          <p:cNvPr id="10" name="Rectangle 9">
            <a:extLst>
              <a:ext uri="{FF2B5EF4-FFF2-40B4-BE49-F238E27FC236}">
                <a16:creationId xmlns:a16="http://schemas.microsoft.com/office/drawing/2014/main" id="{879398A9-0D0D-4901-BDDF-B3D93CECA7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6706" y="964692"/>
            <a:ext cx="3986784"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11FEC3B-E514-4E21-B2CB-7903A7356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1298" y="1128683"/>
            <a:ext cx="3657600"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DD315C0-9D4D-8B58-ADB7-FBD578C50665}"/>
              </a:ext>
            </a:extLst>
          </p:cNvPr>
          <p:cNvPicPr>
            <a:picLocks noChangeAspect="1"/>
          </p:cNvPicPr>
          <p:nvPr/>
        </p:nvPicPr>
        <p:blipFill>
          <a:blip r:embed="rId2"/>
          <a:stretch>
            <a:fillRect/>
          </a:stretch>
        </p:blipFill>
        <p:spPr>
          <a:xfrm>
            <a:off x="7399915" y="2485747"/>
            <a:ext cx="3954247" cy="2263805"/>
          </a:xfrm>
          <a:prstGeom prst="rect">
            <a:avLst/>
          </a:prstGeom>
        </p:spPr>
      </p:pic>
    </p:spTree>
    <p:extLst>
      <p:ext uri="{BB962C8B-B14F-4D97-AF65-F5344CB8AC3E}">
        <p14:creationId xmlns:p14="http://schemas.microsoft.com/office/powerpoint/2010/main" val="23678738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5FB41-FE08-096A-1505-637EF13C1FFF}"/>
              </a:ext>
            </a:extLst>
          </p:cNvPr>
          <p:cNvSpPr>
            <a:spLocks noGrp="1"/>
          </p:cNvSpPr>
          <p:nvPr>
            <p:ph type="title"/>
          </p:nvPr>
        </p:nvSpPr>
        <p:spPr>
          <a:xfrm>
            <a:off x="2044705" y="2240280"/>
            <a:ext cx="7729728" cy="1188720"/>
          </a:xfrm>
        </p:spPr>
        <p:txBody>
          <a:bodyPr/>
          <a:lstStyle/>
          <a:p>
            <a:r>
              <a:rPr lang="en-US" dirty="0"/>
              <a:t>Thank you </a:t>
            </a:r>
          </a:p>
        </p:txBody>
      </p:sp>
    </p:spTree>
    <p:extLst>
      <p:ext uri="{BB962C8B-B14F-4D97-AF65-F5344CB8AC3E}">
        <p14:creationId xmlns:p14="http://schemas.microsoft.com/office/powerpoint/2010/main" val="2794834690"/>
      </p:ext>
    </p:extLst>
  </p:cSld>
  <p:clrMapOvr>
    <a:masterClrMapping/>
  </p:clrMapOvr>
</p:sld>
</file>

<file path=ppt/theme/theme1.xml><?xml version="1.0" encoding="utf-8"?>
<a:theme xmlns:a="http://schemas.openxmlformats.org/drawingml/2006/main" name="Parcel">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1298</TotalTime>
  <Words>2133</Words>
  <Application>Microsoft Office PowerPoint</Application>
  <PresentationFormat>Widescreen</PresentationFormat>
  <Paragraphs>248</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Cambria Math</vt:lpstr>
      <vt:lpstr>Gill Sans MT</vt:lpstr>
      <vt:lpstr>Parcel</vt:lpstr>
      <vt:lpstr>Data analytics presentation </vt:lpstr>
      <vt:lpstr>Invoice Data Analytics: Descriptive, Predictive, and Prescriptive Analysis</vt:lpstr>
      <vt:lpstr>Project Objectives </vt:lpstr>
      <vt:lpstr>Activity 1: Descriptive Analytics</vt:lpstr>
      <vt:lpstr>PowerPoint Presentation</vt:lpstr>
      <vt:lpstr>PowerPoint Presentation</vt:lpstr>
      <vt:lpstr>Activity 1: Visualizations</vt:lpstr>
      <vt:lpstr>Evaluating the Importance of Data Analytical Techniques in Decision-Making</vt:lpstr>
      <vt:lpstr>Activity 2 – Predictive Analytics Overview</vt:lpstr>
      <vt:lpstr>Feature Selection and Its Value</vt:lpstr>
      <vt:lpstr>Predictive Model Performance Comparison</vt:lpstr>
      <vt:lpstr>Interpretation &amp; Comparison</vt:lpstr>
      <vt:lpstr>Strengths &amp; Limitations Summary</vt:lpstr>
      <vt:lpstr>Time Series Forecasting Using Moving Averages</vt:lpstr>
      <vt:lpstr>PowerPoint Presentation</vt:lpstr>
      <vt:lpstr>Prescriptive Analytics Analysis (Activity 3)</vt:lpstr>
      <vt:lpstr>Analysis of Linear Programming (LP)</vt:lpstr>
      <vt:lpstr>Analysis of Genetic Algorithm (GA)</vt:lpstr>
      <vt:lpstr>PowerPoint Presentation</vt:lpstr>
      <vt:lpstr>Using Prescriptive Analytics to Find the Best Course of Action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SARAH ALOBEYTHA</dc:creator>
  <cp:lastModifiedBy>SARAH ALOBEYTHA</cp:lastModifiedBy>
  <cp:revision>1</cp:revision>
  <dcterms:created xsi:type="dcterms:W3CDTF">2026-01-17T15:48:32Z</dcterms:created>
  <dcterms:modified xsi:type="dcterms:W3CDTF">2026-01-18T13:51:40Z</dcterms:modified>
</cp:coreProperties>
</file>